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-384048"/>
            <a:ext cx="9235440" cy="1773936"/>
          </a:xfrm>
        </p:spPr>
        <p:txBody>
          <a:bodyPr/>
          <a:lstStyle/>
          <a:p>
            <a:pPr algn="l"/>
            <a:r>
              <a:rPr sz="3400" b="1">
                <a:solidFill>
                  <a:srgbClr val="1F497D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1920240"/>
            <a:ext cx="6053328" cy="260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50"/>
              </a:spcAft>
            </a:pPr>
            <a:r>
              <a:rPr sz="1650" b="0" i="0">
                <a:solidFill>
                  <a:srgbClr val="0070C0"/>
                </a:solidFill>
                <a:latin typeface="Arial"/>
              </a:rPr>
              <a:t>•  </a:t>
            </a:r>
            <a:r>
              <a:rPr sz="1650" b="1" i="0">
                <a:solidFill>
                  <a:srgbClr val="0F1418"/>
                </a:solidFill>
                <a:latin typeface="Arial"/>
              </a:rPr>
              <a:t>Problem Statement ID  –  </a:t>
            </a:r>
            <a:r>
              <a:rPr sz="1650" b="0" i="0">
                <a:solidFill>
                  <a:srgbClr val="16324F"/>
                </a:solidFill>
                <a:latin typeface="Arial"/>
              </a:rPr>
              <a:t>26167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50"/>
              </a:spcAft>
            </a:pPr>
            <a:r>
              <a:rPr sz="1650" b="0" i="0">
                <a:solidFill>
                  <a:srgbClr val="0070C0"/>
                </a:solidFill>
                <a:latin typeface="Arial"/>
              </a:rPr>
              <a:t>•  </a:t>
            </a:r>
            <a:r>
              <a:rPr sz="1650" b="1" i="0">
                <a:solidFill>
                  <a:srgbClr val="0F1418"/>
                </a:solidFill>
                <a:latin typeface="Arial"/>
              </a:rPr>
              <a:t>Problem Statement Title  –  </a:t>
            </a:r>
            <a:r>
              <a:rPr sz="1650" b="0" i="0">
                <a:solidFill>
                  <a:srgbClr val="16324F"/>
                </a:solidFill>
                <a:latin typeface="Arial"/>
              </a:rPr>
              <a:t>SatQuery AI: An Interactive Vision-Language Assistant for Multimodal Remote Sensing Image Analysis through Text Queries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50"/>
              </a:spcAft>
            </a:pPr>
            <a:r>
              <a:rPr sz="1650" b="0" i="0">
                <a:solidFill>
                  <a:srgbClr val="0070C0"/>
                </a:solidFill>
                <a:latin typeface="Arial"/>
              </a:rPr>
              <a:t>•  </a:t>
            </a:r>
            <a:r>
              <a:rPr sz="1650" b="1" i="0">
                <a:solidFill>
                  <a:srgbClr val="0F1418"/>
                </a:solidFill>
                <a:latin typeface="Arial"/>
              </a:rPr>
              <a:t>Theme  –  </a:t>
            </a:r>
            <a:r>
              <a:rPr sz="1650" b="0" i="0">
                <a:solidFill>
                  <a:srgbClr val="16324F"/>
                </a:solidFill>
                <a:latin typeface="Arial"/>
              </a:rPr>
              <a:t>Space Technology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50"/>
              </a:spcAft>
            </a:pPr>
            <a:r>
              <a:rPr sz="1650" b="0" i="0">
                <a:solidFill>
                  <a:srgbClr val="0070C0"/>
                </a:solidFill>
                <a:latin typeface="Arial"/>
              </a:rPr>
              <a:t>•  </a:t>
            </a:r>
            <a:r>
              <a:rPr sz="1650" b="1" i="0">
                <a:solidFill>
                  <a:srgbClr val="0F1418"/>
                </a:solidFill>
                <a:latin typeface="Arial"/>
              </a:rPr>
              <a:t>PS Category  –  </a:t>
            </a:r>
            <a:r>
              <a:rPr sz="1650" b="0" i="0">
                <a:solidFill>
                  <a:srgbClr val="16324F"/>
                </a:solidFill>
                <a:latin typeface="Arial"/>
              </a:rPr>
              <a:t>Software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50"/>
              </a:spcAft>
            </a:pPr>
            <a:r>
              <a:rPr sz="1650" b="0" i="0">
                <a:solidFill>
                  <a:srgbClr val="0070C0"/>
                </a:solidFill>
                <a:latin typeface="Arial"/>
              </a:rPr>
              <a:t>•  </a:t>
            </a:r>
            <a:r>
              <a:rPr sz="1650" b="1" i="0">
                <a:solidFill>
                  <a:srgbClr val="0F1418"/>
                </a:solidFill>
                <a:latin typeface="Arial"/>
              </a:rPr>
              <a:t>Team ID  –  </a:t>
            </a:r>
            <a:r>
              <a:rPr sz="1650" b="0" i="0">
                <a:solidFill>
                  <a:srgbClr val="16324F"/>
                </a:solidFill>
                <a:latin typeface="Arial"/>
              </a:rPr>
              <a:t>_____________  (from portal)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50"/>
              </a:spcAft>
            </a:pPr>
            <a:r>
              <a:rPr sz="1650" b="0" i="0">
                <a:solidFill>
                  <a:srgbClr val="0070C0"/>
                </a:solidFill>
                <a:latin typeface="Arial"/>
              </a:rPr>
              <a:t>•  </a:t>
            </a:r>
            <a:r>
              <a:rPr sz="1650" b="1" i="0">
                <a:solidFill>
                  <a:srgbClr val="0F1418"/>
                </a:solidFill>
                <a:latin typeface="Arial"/>
              </a:rPr>
              <a:t>Team Name (Registered on portal)  –  </a:t>
            </a:r>
            <a:r>
              <a:rPr sz="1650" b="0" i="0">
                <a:solidFill>
                  <a:srgbClr val="16324F"/>
                </a:solidFill>
                <a:latin typeface="Arial"/>
              </a:rPr>
              <a:t>x64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4585014"/>
            <a:ext cx="5760720" cy="2194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29184" y="4713030"/>
            <a:ext cx="5989320" cy="423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472"/>
                </a:solidFill>
                <a:latin typeface="Times New Roman"/>
              </a:rPr>
              <a:t>Ask your satellite in plain language: a plan over specialist tools, a grounded answer, and a trace any reviewer can audit.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" y="5337362"/>
            <a:ext cx="1415034" cy="658368"/>
          </a:xfrm>
          <a:prstGeom prst="roundRect">
            <a:avLst>
              <a:gd name="adj" fmla="val 9722"/>
            </a:avLst>
          </a:prstGeom>
          <a:solidFill>
            <a:srgbClr val="EAF3FC"/>
          </a:solidFill>
          <a:ln w="1016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2336" y="5392226"/>
            <a:ext cx="126873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5 /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" y="5639114"/>
            <a:ext cx="13235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PS demo queries covered verbatim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53945" y="5337362"/>
            <a:ext cx="1415034" cy="658368"/>
          </a:xfrm>
          <a:prstGeom prst="roundRect">
            <a:avLst>
              <a:gd name="adj" fmla="val 9722"/>
            </a:avLst>
          </a:prstGeom>
          <a:solidFill>
            <a:srgbClr val="EAF3FC"/>
          </a:solidFill>
          <a:ln w="1016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927098" y="5392226"/>
            <a:ext cx="126873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9665" y="5639114"/>
            <a:ext cx="13235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PS clauses mapped (P1–P15)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78708" y="5337362"/>
            <a:ext cx="1415034" cy="658368"/>
          </a:xfrm>
          <a:prstGeom prst="roundRect">
            <a:avLst>
              <a:gd name="adj" fmla="val 9722"/>
            </a:avLst>
          </a:prstGeom>
          <a:solidFill>
            <a:srgbClr val="EAF3FC"/>
          </a:solidFill>
          <a:ln w="1016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451860" y="5392226"/>
            <a:ext cx="126873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4427" y="5639114"/>
            <a:ext cx="13235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models fine-tuned by 20 Sep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03470" y="5337362"/>
            <a:ext cx="1415034" cy="658368"/>
          </a:xfrm>
          <a:prstGeom prst="roundRect">
            <a:avLst>
              <a:gd name="adj" fmla="val 9722"/>
            </a:avLst>
          </a:prstGeom>
          <a:solidFill>
            <a:srgbClr val="EAF3FC"/>
          </a:solidFill>
          <a:ln w="1016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976622" y="5392226"/>
            <a:ext cx="126873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Rs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49190" y="5639114"/>
            <a:ext cx="13235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licence · offline · laptop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713232"/>
          </a:xfrm>
        </p:spPr>
        <p:txBody>
          <a:bodyPr/>
          <a:lstStyle/>
          <a:p>
            <a:pPr eaLnBrk="1" hangingPunct="1" algn="ctr"/>
            <a:r>
              <a:rPr sz="2700" b="1">
                <a:solidFill>
                  <a:srgbClr val="0F1418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2C8D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783080" y="786384"/>
            <a:ext cx="7818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A6472"/>
                </a:solidFill>
                <a:latin typeface="Arial"/>
              </a:rPr>
              <a:t>Proposed solution (idea / solution / prototype)  ·  detailed explanation  ·  how it addresses the problem  ·  innovation and uniqueness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274320" y="1133856"/>
            <a:ext cx="6089904" cy="4023359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Rounded Rectangle 15363"/>
          <p:cNvSpPr/>
          <p:nvPr/>
        </p:nvSpPr>
        <p:spPr>
          <a:xfrm>
            <a:off x="402336" y="1216152"/>
            <a:ext cx="5833872" cy="292608"/>
          </a:xfrm>
          <a:prstGeom prst="roundRect">
            <a:avLst>
              <a:gd name="adj" fmla="val 28125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493776" y="1216152"/>
            <a:ext cx="56509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PROPOSED SOLUTION / APPROACH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02336" y="1600200"/>
            <a:ext cx="5833872" cy="1606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6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•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Agentic by design — </a:t>
            </a:r>
            <a:r>
              <a:rPr sz="860" b="0" i="0">
                <a:solidFill>
                  <a:srgbClr val="0F1418"/>
                </a:solidFill>
                <a:latin typeface="Arial"/>
              </a:rPr>
              <a:t>a natural-language query is planned into a sequence of specialist tools chosen from a predefined registry (P6–P8); never one monolithic VLM.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6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•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Guardrailed execution — </a:t>
            </a:r>
            <a:r>
              <a:rPr sz="860" b="0" i="0">
                <a:solidFill>
                  <a:srgbClr val="0F1418"/>
                </a:solidFill>
                <a:latin typeface="Arial"/>
              </a:rPr>
              <a:t>task schema plus parameter whitelist, then a deterministic router. Incompatible rasters return a compatibility report instead of a crash.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6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•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Auditable trace — </a:t>
            </a:r>
            <a:r>
              <a:rPr sz="860" b="0" i="0">
                <a:solidFill>
                  <a:srgbClr val="0F1418"/>
                </a:solidFill>
                <a:latin typeface="Arial"/>
              </a:rPr>
              <a:t>each run logs task, tool + version, permitted parameters, input hash, per-step latency and confidence (P9–P10) — the surface the PS says it grades.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6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•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Evidence on the image — </a:t>
            </a:r>
            <a:r>
              <a:rPr sz="860" b="0" i="0">
                <a:solidFill>
                  <a:srgbClr val="0F1418"/>
                </a:solidFill>
                <a:latin typeface="Arial"/>
              </a:rPr>
              <a:t>change mask, grounding boxes, caption overlay; calibrated High/Med/Low badges, an optical/SAR disagreement flag, and reasoned abstention.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60"/>
              </a:spcAft>
            </a:pPr>
            <a:r>
              <a:rPr sz="860" b="1" i="0">
                <a:solidFill>
                  <a:srgbClr val="1F497D"/>
                </a:solidFill>
                <a:latin typeface="Arial"/>
              </a:rPr>
              <a:t>•  </a:t>
            </a:r>
            <a:r>
              <a:rPr sz="860" b="1" i="0">
                <a:solidFill>
                  <a:srgbClr val="1F497D"/>
                </a:solidFill>
                <a:latin typeface="Arial"/>
              </a:rPr>
              <a:t>RS-adapted, not generic — </a:t>
            </a:r>
            <a:r>
              <a:rPr sz="860" b="0" i="0">
                <a:solidFill>
                  <a:srgbClr val="0F1418"/>
                </a:solidFill>
                <a:latin typeface="Arial"/>
              </a:rPr>
              <a:t>Qwen2-VL-2B adapted with QLoRA on BigEarthNet.txt. A generic VLM “will not satisfy the requirements” (P12), so the graded path runs our weights, offline.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402336" y="3243077"/>
            <a:ext cx="5833872" cy="16459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402336" y="3343661"/>
            <a:ext cx="5833872" cy="413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87722"/>
                </a:solidFill>
                <a:latin typeface="Arial"/>
              </a:rPr>
              <a:t>How it addresses the problem:  </a:t>
            </a:r>
            <a:r>
              <a:rPr sz="860" b="0" i="1">
                <a:solidFill>
                  <a:srgbClr val="0F1418"/>
                </a:solidFill>
                <a:latin typeface="Arial"/>
              </a:rPr>
              <a:t>the PS asks for a system that plans, not a model that guesses. We turn an expert GIS pipeline into one query box and make every answer checkable line by line — closing the trust gap that keeps satellite imagery locked inside specialist desks.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402336" y="3802691"/>
            <a:ext cx="5833872" cy="16459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TextBox 15369"/>
          <p:cNvSpPr txBox="1"/>
          <p:nvPr/>
        </p:nvSpPr>
        <p:spPr>
          <a:xfrm>
            <a:off x="402336" y="3903275"/>
            <a:ext cx="5833872" cy="9625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60"/>
              </a:spcAft>
            </a:pPr>
            <a:r>
              <a:rPr sz="720" b="1" i="0">
                <a:solidFill>
                  <a:srgbClr val="5A6472"/>
                </a:solidFill>
                <a:latin typeface="Arial"/>
              </a:rPr>
              <a:t>The five PS queries we demonstrate, verbatim — and what each routes to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80"/>
              </a:spcAft>
            </a:pPr>
            <a:r>
              <a:rPr sz="740" b="1" i="0">
                <a:solidFill>
                  <a:srgbClr val="0070C0"/>
                </a:solidFill>
                <a:latin typeface="Arial"/>
              </a:rPr>
              <a:t>1. </a:t>
            </a:r>
            <a:r>
              <a:rPr sz="740" b="0" i="1">
                <a:solidFill>
                  <a:srgbClr val="16324F"/>
                </a:solidFill>
                <a:latin typeface="Arial"/>
              </a:rPr>
              <a:t>“Describe the land-cover and major objects visible in this image.” </a:t>
            </a:r>
            <a:r>
              <a:rPr sz="740" b="1" i="0">
                <a:solidFill>
                  <a:srgbClr val="1E7A43"/>
                </a:solidFill>
                <a:latin typeface="Arial"/>
              </a:rPr>
              <a:t>» caption + VQA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80"/>
              </a:spcAft>
            </a:pPr>
            <a:r>
              <a:rPr sz="740" b="1" i="0">
                <a:solidFill>
                  <a:srgbClr val="0070C0"/>
                </a:solidFill>
                <a:latin typeface="Arial"/>
              </a:rPr>
              <a:t>2. </a:t>
            </a:r>
            <a:r>
              <a:rPr sz="740" b="0" i="1">
                <a:solidFill>
                  <a:srgbClr val="16324F"/>
                </a:solidFill>
                <a:latin typeface="Arial"/>
              </a:rPr>
              <a:t>“Highlight the water body referred to in the query.” </a:t>
            </a:r>
            <a:r>
              <a:rPr sz="740" b="1" i="0">
                <a:solidFill>
                  <a:srgbClr val="1E7A43"/>
                </a:solidFill>
                <a:latin typeface="Arial"/>
              </a:rPr>
              <a:t>» text-guided grounding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80"/>
              </a:spcAft>
            </a:pPr>
            <a:r>
              <a:rPr sz="740" b="1" i="0">
                <a:solidFill>
                  <a:srgbClr val="0070C0"/>
                </a:solidFill>
                <a:latin typeface="Arial"/>
              </a:rPr>
              <a:t>3. </a:t>
            </a:r>
            <a:r>
              <a:rPr sz="740" b="0" i="1">
                <a:solidFill>
                  <a:srgbClr val="16324F"/>
                </a:solidFill>
                <a:latin typeface="Arial"/>
              </a:rPr>
              <a:t>“What changed between these two dates, and where did the change occur?” </a:t>
            </a:r>
            <a:r>
              <a:rPr sz="740" b="1" i="0">
                <a:solidFill>
                  <a:srgbClr val="1E7A43"/>
                </a:solidFill>
                <a:latin typeface="Arial"/>
              </a:rPr>
              <a:t>» bi-temporal change + change-VQA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80"/>
              </a:spcAft>
            </a:pPr>
            <a:r>
              <a:rPr sz="740" b="1" i="0">
                <a:solidFill>
                  <a:srgbClr val="0070C0"/>
                </a:solidFill>
                <a:latin typeface="Arial"/>
              </a:rPr>
              <a:t>4. </a:t>
            </a:r>
            <a:r>
              <a:rPr sz="740" b="0" i="1">
                <a:solidFill>
                  <a:srgbClr val="16324F"/>
                </a:solidFill>
                <a:latin typeface="Arial"/>
              </a:rPr>
              <a:t>“Use the optical and SAR images together to identify built-up and water-covered regions.” </a:t>
            </a:r>
            <a:r>
              <a:rPr sz="740" b="1" i="0">
                <a:solidFill>
                  <a:srgbClr val="1E7A43"/>
                </a:solidFill>
                <a:latin typeface="Arial"/>
              </a:rPr>
              <a:t>» cross-modal joint reasoning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80"/>
              </a:spcAft>
            </a:pPr>
            <a:r>
              <a:rPr sz="740" b="1" i="0">
                <a:solidFill>
                  <a:srgbClr val="0070C0"/>
                </a:solidFill>
                <a:latin typeface="Arial"/>
              </a:rPr>
              <a:t>5. </a:t>
            </a:r>
            <a:r>
              <a:rPr sz="740" b="0" i="1">
                <a:solidFill>
                  <a:srgbClr val="16324F"/>
                </a:solidFill>
                <a:latin typeface="Arial"/>
              </a:rPr>
              <a:t>“Has the built-up area increased, decreased, or remained unchanged?” </a:t>
            </a:r>
            <a:r>
              <a:rPr sz="740" b="1" i="0">
                <a:solidFill>
                  <a:srgbClr val="1E7A43"/>
                </a:solidFill>
                <a:latin typeface="Arial"/>
              </a:rPr>
              <a:t>» change-VQA + area trend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528816" y="1133856"/>
            <a:ext cx="5385816" cy="4023359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Rounded Rectangle 15371"/>
          <p:cNvSpPr/>
          <p:nvPr/>
        </p:nvSpPr>
        <p:spPr>
          <a:xfrm>
            <a:off x="6656831" y="1216152"/>
            <a:ext cx="5129783" cy="292608"/>
          </a:xfrm>
          <a:prstGeom prst="roundRect">
            <a:avLst>
              <a:gd name="adj" fmla="val 28125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TextBox 15372"/>
          <p:cNvSpPr txBox="1"/>
          <p:nvPr/>
        </p:nvSpPr>
        <p:spPr>
          <a:xfrm>
            <a:off x="6748271" y="1216152"/>
            <a:ext cx="49469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Times New Roman"/>
              </a:rPr>
              <a:t>END-TO-END WORKFLOW · every step lands in trace.json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620255" y="1609344"/>
            <a:ext cx="5202936" cy="400352"/>
          </a:xfrm>
          <a:prstGeom prst="roundRect">
            <a:avLst>
              <a:gd name="adj" fmla="val 11419"/>
            </a:avLst>
          </a:prstGeom>
          <a:solidFill>
            <a:srgbClr val="EAF3FC"/>
          </a:solidFill>
          <a:ln w="698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Oval 15374"/>
          <p:cNvSpPr/>
          <p:nvPr/>
        </p:nvSpPr>
        <p:spPr>
          <a:xfrm>
            <a:off x="6711696" y="1704364"/>
            <a:ext cx="210312" cy="2103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6711696" y="1699792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986016" y="1636776"/>
            <a:ext cx="1463040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497D"/>
                </a:solidFill>
                <a:latin typeface="Arial"/>
              </a:rPr>
              <a:t>Query + imagery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375904" y="1636776"/>
            <a:ext cx="3282696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1418"/>
                </a:solidFill>
                <a:latin typeface="Arial"/>
              </a:rPr>
              <a:t>one optical/SAR raster or a co-registered bi-temporal pair; PNG/JPEG only for the named benchmarks (P11).</a:t>
            </a:r>
          </a:p>
        </p:txBody>
      </p:sp>
      <p:cxnSp>
        <p:nvCxnSpPr>
          <p:cNvPr id="15379" name="Connector 15378"/>
          <p:cNvCxnSpPr/>
          <p:nvPr/>
        </p:nvCxnSpPr>
        <p:spPr>
          <a:xfrm>
            <a:off x="6816852" y="2009696"/>
            <a:ext cx="0" cy="68580"/>
          </a:xfrm>
          <a:prstGeom prst="line">
            <a:avLst/>
          </a:prstGeom>
          <a:ln w="13970">
            <a:solidFill>
              <a:srgbClr val="0070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0" name="Rounded Rectangle 15379"/>
          <p:cNvSpPr/>
          <p:nvPr/>
        </p:nvSpPr>
        <p:spPr>
          <a:xfrm>
            <a:off x="6620255" y="2078276"/>
            <a:ext cx="5202936" cy="400352"/>
          </a:xfrm>
          <a:prstGeom prst="roundRect">
            <a:avLst>
              <a:gd name="adj" fmla="val 11419"/>
            </a:avLst>
          </a:prstGeom>
          <a:solidFill>
            <a:srgbClr val="EEF2F7"/>
          </a:solidFill>
          <a:ln w="698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Oval 15380"/>
          <p:cNvSpPr/>
          <p:nvPr/>
        </p:nvSpPr>
        <p:spPr>
          <a:xfrm>
            <a:off x="6711696" y="2173296"/>
            <a:ext cx="210312" cy="2103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6711696" y="216872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986016" y="2105708"/>
            <a:ext cx="1463040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497D"/>
                </a:solidFill>
                <a:latin typeface="Arial"/>
              </a:rPr>
              <a:t>Ingest &amp; validate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8375904" y="2105708"/>
            <a:ext cx="3282696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1418"/>
                </a:solidFill>
                <a:latin typeface="Arial"/>
              </a:rPr>
              <a:t>band order · CRS · modality · co-registration offset · 512 px tiles / 64 overlap, so resolution never changes code (P14).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6816852" y="2478628"/>
            <a:ext cx="0" cy="68580"/>
          </a:xfrm>
          <a:prstGeom prst="line">
            <a:avLst/>
          </a:prstGeom>
          <a:ln w="13970">
            <a:solidFill>
              <a:srgbClr val="0070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6620255" y="2547208"/>
            <a:ext cx="5202936" cy="536520"/>
          </a:xfrm>
          <a:prstGeom prst="roundRect">
            <a:avLst>
              <a:gd name="adj" fmla="val 8521"/>
            </a:avLst>
          </a:prstGeom>
          <a:solidFill>
            <a:srgbClr val="EAF3FC"/>
          </a:solidFill>
          <a:ln w="698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Oval 15386"/>
          <p:cNvSpPr/>
          <p:nvPr/>
        </p:nvSpPr>
        <p:spPr>
          <a:xfrm>
            <a:off x="6711696" y="2710312"/>
            <a:ext cx="210312" cy="2103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TextBox 15387"/>
          <p:cNvSpPr txBox="1"/>
          <p:nvPr/>
        </p:nvSpPr>
        <p:spPr>
          <a:xfrm>
            <a:off x="6711696" y="2705740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986016" y="2574640"/>
            <a:ext cx="1463040" cy="481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497D"/>
                </a:solidFill>
                <a:latin typeface="Arial"/>
              </a:rPr>
              <a:t>Plan &amp; guard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8375904" y="2574640"/>
            <a:ext cx="3282696" cy="481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1418"/>
                </a:solidFill>
                <a:latin typeface="Arial"/>
              </a:rPr>
              <a:t>task id and tool set from registry.yaml; only whitelisted parameters are permitted; RuleRouter guarantees a valid plan.</a:t>
            </a:r>
          </a:p>
        </p:txBody>
      </p:sp>
      <p:cxnSp>
        <p:nvCxnSpPr>
          <p:cNvPr id="15391" name="Connector 15390"/>
          <p:cNvCxnSpPr/>
          <p:nvPr/>
        </p:nvCxnSpPr>
        <p:spPr>
          <a:xfrm>
            <a:off x="6816852" y="3083728"/>
            <a:ext cx="0" cy="68580"/>
          </a:xfrm>
          <a:prstGeom prst="line">
            <a:avLst/>
          </a:prstGeom>
          <a:ln w="13970">
            <a:solidFill>
              <a:srgbClr val="0070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Rounded Rectangle 15391"/>
          <p:cNvSpPr/>
          <p:nvPr/>
        </p:nvSpPr>
        <p:spPr>
          <a:xfrm>
            <a:off x="6620255" y="3152308"/>
            <a:ext cx="5202936" cy="400352"/>
          </a:xfrm>
          <a:prstGeom prst="roundRect">
            <a:avLst>
              <a:gd name="adj" fmla="val 11419"/>
            </a:avLst>
          </a:prstGeom>
          <a:solidFill>
            <a:srgbClr val="EEF2F7"/>
          </a:solidFill>
          <a:ln w="698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3" name="Oval 15392"/>
          <p:cNvSpPr/>
          <p:nvPr/>
        </p:nvSpPr>
        <p:spPr>
          <a:xfrm>
            <a:off x="6711696" y="3247329"/>
            <a:ext cx="210312" cy="2103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TextBox 15393"/>
          <p:cNvSpPr txBox="1"/>
          <p:nvPr/>
        </p:nvSpPr>
        <p:spPr>
          <a:xfrm>
            <a:off x="6711696" y="3242757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6986016" y="3179740"/>
            <a:ext cx="1463040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497D"/>
                </a:solidFill>
                <a:latin typeface="Arial"/>
              </a:rPr>
              <a:t>Execute specialists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8375904" y="3179740"/>
            <a:ext cx="3282696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1418"/>
                </a:solidFill>
                <a:latin typeface="Arial"/>
              </a:rPr>
              <a:t>M1 VLM (single-image + 2-image) · M4 change · M3 grounding · M7 land-cover; every call writes to the trace.</a:t>
            </a:r>
          </a:p>
        </p:txBody>
      </p:sp>
      <p:cxnSp>
        <p:nvCxnSpPr>
          <p:cNvPr id="15397" name="Connector 15396"/>
          <p:cNvCxnSpPr/>
          <p:nvPr/>
        </p:nvCxnSpPr>
        <p:spPr>
          <a:xfrm>
            <a:off x="6816852" y="3552661"/>
            <a:ext cx="0" cy="68580"/>
          </a:xfrm>
          <a:prstGeom prst="line">
            <a:avLst/>
          </a:prstGeom>
          <a:ln w="13970">
            <a:solidFill>
              <a:srgbClr val="0070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8" name="Rounded Rectangle 15397"/>
          <p:cNvSpPr/>
          <p:nvPr/>
        </p:nvSpPr>
        <p:spPr>
          <a:xfrm>
            <a:off x="6620255" y="3621241"/>
            <a:ext cx="5202936" cy="400352"/>
          </a:xfrm>
          <a:prstGeom prst="roundRect">
            <a:avLst>
              <a:gd name="adj" fmla="val 11419"/>
            </a:avLst>
          </a:prstGeom>
          <a:solidFill>
            <a:srgbClr val="EAF3FC"/>
          </a:solidFill>
          <a:ln w="698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9" name="Oval 15398"/>
          <p:cNvSpPr/>
          <p:nvPr/>
        </p:nvSpPr>
        <p:spPr>
          <a:xfrm>
            <a:off x="6711696" y="3716261"/>
            <a:ext cx="210312" cy="2103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0" name="TextBox 15399"/>
          <p:cNvSpPr txBox="1"/>
          <p:nvPr/>
        </p:nvSpPr>
        <p:spPr>
          <a:xfrm>
            <a:off x="6711696" y="3711689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6986016" y="3648673"/>
            <a:ext cx="1463040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F497D"/>
                </a:solidFill>
                <a:latin typeface="Arial"/>
              </a:rPr>
              <a:t>Fuse · answer · report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8375904" y="3648673"/>
            <a:ext cx="3282696" cy="34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F1418"/>
                </a:solidFill>
                <a:latin typeface="Arial"/>
              </a:rPr>
              <a:t>geometric-mean confidence, badges, overlay raster, answer card, downloadable PDF/HTML audit pack.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6620255" y="4090173"/>
            <a:ext cx="5202936" cy="975602"/>
          </a:xfrm>
          <a:prstGeom prst="roundRect">
            <a:avLst>
              <a:gd name="adj" fmla="val 4686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4" name="TextBox 15403"/>
          <p:cNvSpPr txBox="1"/>
          <p:nvPr/>
        </p:nvSpPr>
        <p:spPr>
          <a:xfrm>
            <a:off x="6729983" y="4135893"/>
            <a:ext cx="4983479" cy="8841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E7A43"/>
                </a:solidFill>
                <a:latin typeface="Arial"/>
              </a:rPr>
              <a:t>Chain-of-thought is deliberately not shown:  </a:t>
            </a:r>
            <a:r>
              <a:rPr sz="850" b="0" i="0">
                <a:solidFill>
                  <a:srgbClr val="0F1418"/>
                </a:solidFill>
                <a:latin typeface="Arial"/>
              </a:rPr>
              <a:t>the PS evaluates only the observable execution trace, so a plan is audited by what it ran with, not by prose (P10). A deterministic RuleRouter therefore scores identically to an LLM planner — and never fails on stage.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274320" y="5248655"/>
            <a:ext cx="11640311" cy="274320"/>
          </a:xfrm>
          <a:prstGeom prst="roundRect">
            <a:avLst>
              <a:gd name="adj" fmla="val 3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6" name="TextBox 15405"/>
          <p:cNvSpPr txBox="1"/>
          <p:nvPr/>
        </p:nvSpPr>
        <p:spPr>
          <a:xfrm>
            <a:off x="365760" y="5248655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Times New Roman"/>
              </a:rPr>
              <a:t>INNOVATION AND UNIQUENESS · the five things another team cannot bolt on at the end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274320" y="5596127"/>
            <a:ext cx="2232964" cy="694944"/>
          </a:xfrm>
          <a:prstGeom prst="roundRect">
            <a:avLst>
              <a:gd name="adj" fmla="val 7894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TextBox 15407"/>
          <p:cNvSpPr txBox="1"/>
          <p:nvPr/>
        </p:nvSpPr>
        <p:spPr>
          <a:xfrm>
            <a:off x="374904" y="5641847"/>
            <a:ext cx="20317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Trace as a product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374904" y="5843015"/>
            <a:ext cx="20317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Arial"/>
              </a:rPr>
              <a:t>the graded surface is a first-class UI, JSON and PDF artifact, not a debug log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2626156" y="5596127"/>
            <a:ext cx="2232964" cy="694944"/>
          </a:xfrm>
          <a:prstGeom prst="roundRect">
            <a:avLst>
              <a:gd name="adj" fmla="val 7894"/>
            </a:avLst>
          </a:prstGeom>
          <a:solidFill>
            <a:srgbClr val="0F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1" name="TextBox 15410"/>
          <p:cNvSpPr txBox="1"/>
          <p:nvPr/>
        </p:nvSpPr>
        <p:spPr>
          <a:xfrm>
            <a:off x="2726740" y="5641847"/>
            <a:ext cx="20317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Registry + guardrails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2726740" y="5843015"/>
            <a:ext cx="20317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Arial"/>
              </a:rPr>
              <a:t>declared tools, whitelisted parameters, deterministic fallback: the demo cannot crash</a:t>
            </a:r>
          </a:p>
        </p:txBody>
      </p:sp>
      <p:sp>
        <p:nvSpPr>
          <p:cNvPr id="15413" name="Rounded Rectangle 15412"/>
          <p:cNvSpPr/>
          <p:nvPr/>
        </p:nvSpPr>
        <p:spPr>
          <a:xfrm>
            <a:off x="4977993" y="5596127"/>
            <a:ext cx="2232964" cy="694944"/>
          </a:xfrm>
          <a:prstGeom prst="roundRect">
            <a:avLst>
              <a:gd name="adj" fmla="val 7894"/>
            </a:avLst>
          </a:prstGeom>
          <a:solidFill>
            <a:srgbClr val="5B2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4" name="TextBox 15413"/>
          <p:cNvSpPr txBox="1"/>
          <p:nvPr/>
        </p:nvSpPr>
        <p:spPr>
          <a:xfrm>
            <a:off x="5078577" y="5641847"/>
            <a:ext cx="20317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Optical × SAR jointly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5078577" y="5843015"/>
            <a:ext cx="20317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Arial"/>
              </a:rPr>
              <a:t>spectra plus all-weather structure; paired reasoning is the PS's principal focus (P1, P5)</a:t>
            </a:r>
          </a:p>
        </p:txBody>
      </p:sp>
      <p:sp>
        <p:nvSpPr>
          <p:cNvPr id="15416" name="Rounded Rectangle 15415"/>
          <p:cNvSpPr/>
          <p:nvPr/>
        </p:nvSpPr>
        <p:spPr>
          <a:xfrm>
            <a:off x="7329830" y="5596127"/>
            <a:ext cx="2232964" cy="694944"/>
          </a:xfrm>
          <a:prstGeom prst="roundRect">
            <a:avLst>
              <a:gd name="adj" fmla="val 7894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7" name="TextBox 15416"/>
          <p:cNvSpPr txBox="1"/>
          <p:nvPr/>
        </p:nvSpPr>
        <p:spPr>
          <a:xfrm>
            <a:off x="7430414" y="5641847"/>
            <a:ext cx="20317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RS-adapted weights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7430414" y="5843015"/>
            <a:ext cx="20317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Arial"/>
              </a:rPr>
              <a:t>QLoRA on BigEarthNet.txt over S1/S2/fused backbones — never a hosted generic API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9681667" y="5596127"/>
            <a:ext cx="2232964" cy="694944"/>
          </a:xfrm>
          <a:prstGeom prst="roundRect">
            <a:avLst>
              <a:gd name="adj" fmla="val 7894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0" name="TextBox 15419"/>
          <p:cNvSpPr txBox="1"/>
          <p:nvPr/>
        </p:nvSpPr>
        <p:spPr>
          <a:xfrm>
            <a:off x="9782251" y="5641847"/>
            <a:ext cx="20317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Honest confidence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9782251" y="5843015"/>
            <a:ext cx="203179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FFFFFF"/>
                </a:solidFill>
                <a:latin typeface="Arial"/>
              </a:rPr>
              <a:t>calibrated badges, disagreement flag, abstention when the evidence is thin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713232"/>
          </a:xfrm>
        </p:spPr>
        <p:txBody>
          <a:bodyPr/>
          <a:lstStyle/>
          <a:p>
            <a:pPr eaLnBrk="1" hangingPunct="1" algn="ctr"/>
            <a:r>
              <a:rPr sz="2700" b="1">
                <a:solidFill>
                  <a:srgbClr val="0F1418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2C8D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83080" y="786384"/>
            <a:ext cx="7818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A6472"/>
                </a:solidFill>
                <a:latin typeface="Arial"/>
              </a:rPr>
              <a:t>Technologies to be used (languages, frameworks, hardware)  ·  methodology and process for implementation (flow charts / images 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133856"/>
            <a:ext cx="2786633" cy="2615184"/>
          </a:xfrm>
          <a:prstGeom prst="roundRect">
            <a:avLst>
              <a:gd name="adj" fmla="val 2797"/>
            </a:avLst>
          </a:prstGeom>
          <a:solidFill>
            <a:srgbClr val="EAF3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56616" y="1216152"/>
            <a:ext cx="2622041" cy="347472"/>
          </a:xfrm>
          <a:prstGeom prst="roundRect">
            <a:avLst>
              <a:gd name="adj" fmla="val 13157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02336" y="1225296"/>
            <a:ext cx="253060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ZONE 1 · INPUTS &amp; VALIDATION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56616" y="16367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429768" y="16687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Analyst / officer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9768" y="18288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one plain-language question; no QGIS, no scripting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56616" y="21511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429768" y="21831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Co-registered pair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29768" y="23431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Cartosat-2S optical + RISAT SAR (Sentinel proxies in dev)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56616" y="26654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429768" y="26974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Ingest gate (GDAL)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29768" y="28575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bands, CRS, modality, co-registration offset; PNG/JPEG only for named benchmarks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56616" y="31798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429768" y="32118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512 px tiles, 64 overlap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9768" y="33718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resolution- and sensor-agnostic by construction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3070097" y="2441448"/>
            <a:ext cx="146304" cy="0"/>
          </a:xfrm>
          <a:prstGeom prst="line">
            <a:avLst/>
          </a:prstGeom>
          <a:ln w="16510">
            <a:solidFill>
              <a:srgbClr val="16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3225545" y="1133856"/>
            <a:ext cx="2786633" cy="2615184"/>
          </a:xfrm>
          <a:prstGeom prst="roundRect">
            <a:avLst>
              <a:gd name="adj" fmla="val 2797"/>
            </a:avLst>
          </a:prstGeom>
          <a:solidFill>
            <a:srgbClr val="E7F6F5"/>
          </a:solidFill>
          <a:ln w="1270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3307841" y="1216152"/>
            <a:ext cx="2622041" cy="347472"/>
          </a:xfrm>
          <a:prstGeom prst="roundRect">
            <a:avLst>
              <a:gd name="adj" fmla="val 13157"/>
            </a:avLst>
          </a:prstGeom>
          <a:solidFill>
            <a:srgbClr val="0F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3353561" y="1225296"/>
            <a:ext cx="253060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ZONE 2 · WEB FRONTEND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307841" y="16367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3380993" y="16687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Query console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380993" y="18288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upload, demo scenes, query chips, cached-answer switch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307841" y="21511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380993" y="21831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Answer card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380993" y="23431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answer, badges, confidence, abstention copy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307841" y="26654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3380993" y="26974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Overlay stage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380993" y="28575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change mask / boxes / caption, toggled per layer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307841" y="31798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3380993" y="32118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Trace panel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3380993" y="33718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expandable steps + per-step latency + trace.json / PDF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6021323" y="2441448"/>
            <a:ext cx="146304" cy="0"/>
          </a:xfrm>
          <a:prstGeom prst="line">
            <a:avLst/>
          </a:prstGeom>
          <a:ln w="16510">
            <a:solidFill>
              <a:srgbClr val="16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6176771" y="1133856"/>
            <a:ext cx="2786633" cy="2615184"/>
          </a:xfrm>
          <a:prstGeom prst="roundRect">
            <a:avLst>
              <a:gd name="adj" fmla="val 2797"/>
            </a:avLst>
          </a:prstGeom>
          <a:solidFill>
            <a:srgbClr val="F2ECFA"/>
          </a:solidFill>
          <a:ln w="1270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ounded Rectangle 17443"/>
          <p:cNvSpPr/>
          <p:nvPr/>
        </p:nvSpPr>
        <p:spPr>
          <a:xfrm>
            <a:off x="6259067" y="1216152"/>
            <a:ext cx="2622041" cy="347472"/>
          </a:xfrm>
          <a:prstGeom prst="roundRect">
            <a:avLst>
              <a:gd name="adj" fmla="val 13157"/>
            </a:avLst>
          </a:prstGeom>
          <a:solidFill>
            <a:srgbClr val="5B2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6304787" y="1225296"/>
            <a:ext cx="253060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ZONE 3 · AGENTIC BACKEND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259067" y="16367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6332219" y="16687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API gateway (FastAPI)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332219" y="18288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auth, job queue, one endpoint per tool contract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259067" y="21511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6332219" y="21831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Planner + guardrail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332219" y="23431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registry.yaml selection, schema and parameter whitelist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259067" y="26654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6332219" y="26974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RuleRouter fallback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332219" y="28575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deterministic routing when the planner is unsure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6259067" y="31798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6332219" y="32118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Trace store (SQLite)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332219" y="33718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inputs hash, tools, versions, params, latency, confidence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8972549" y="2441448"/>
            <a:ext cx="146304" cy="0"/>
          </a:xfrm>
          <a:prstGeom prst="line">
            <a:avLst/>
          </a:prstGeom>
          <a:ln w="16510">
            <a:solidFill>
              <a:srgbClr val="16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9127998" y="1133856"/>
            <a:ext cx="2786633" cy="2615184"/>
          </a:xfrm>
          <a:prstGeom prst="roundRect">
            <a:avLst>
              <a:gd name="adj" fmla="val 2797"/>
            </a:avLst>
          </a:prstGeom>
          <a:solidFill>
            <a:srgbClr val="EAF7E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9210294" y="1216152"/>
            <a:ext cx="2622041" cy="347472"/>
          </a:xfrm>
          <a:prstGeom prst="roundRect">
            <a:avLst>
              <a:gd name="adj" fmla="val 13157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9256014" y="1225296"/>
            <a:ext cx="253060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ZONE 4 · INTELLIGENCE LAYER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9210294" y="16367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9283446" y="16687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M1 Qwen2-VL-2B QLoRA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9283446" y="18288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VQA, captioning, 2-image optical+SAR — the backbone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9210294" y="21511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9283446" y="21831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M4 BiT change · M3 Grounding-DINO-T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9283446" y="23431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bi-temporal map, change-VQA, text-to-box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9210294" y="266547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9283446" y="269748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M7 land-cover classifier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9283446" y="285750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BigEarthNet v2.0 encoder; built-up, water, crop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9210294" y="3179826"/>
            <a:ext cx="2622041" cy="46862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762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2" name="TextBox 17471"/>
          <p:cNvSpPr txBox="1"/>
          <p:nvPr/>
        </p:nvSpPr>
        <p:spPr>
          <a:xfrm>
            <a:off x="9283446" y="3211830"/>
            <a:ext cx="2475737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Adapted on BigEarthNet.txt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9283446" y="3371850"/>
            <a:ext cx="2475737" cy="240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A6472"/>
                </a:solidFill>
                <a:latin typeface="Arial"/>
              </a:rPr>
              <a:t>9.55 M image-text rows incl. S1-S2-text triplets (P2)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274320" y="3858768"/>
            <a:ext cx="11640311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Rounded Rectangle 17474"/>
          <p:cNvSpPr/>
          <p:nvPr/>
        </p:nvSpPr>
        <p:spPr>
          <a:xfrm>
            <a:off x="393192" y="3913631"/>
            <a:ext cx="1333853" cy="256032"/>
          </a:xfrm>
          <a:prstGeom prst="roundRect">
            <a:avLst>
              <a:gd name="adj" fmla="val 42857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6" name="TextBox 17475"/>
          <p:cNvSpPr txBox="1"/>
          <p:nvPr/>
        </p:nvSpPr>
        <p:spPr>
          <a:xfrm>
            <a:off x="393192" y="3909059"/>
            <a:ext cx="133385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1777337" y="3913631"/>
            <a:ext cx="826928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1777337" y="3909059"/>
            <a:ext cx="826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Python 3.11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2654557" y="3913631"/>
            <a:ext cx="575061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TextBox 17479"/>
          <p:cNvSpPr txBox="1"/>
          <p:nvPr/>
        </p:nvSpPr>
        <p:spPr>
          <a:xfrm>
            <a:off x="2654557" y="3909059"/>
            <a:ext cx="57506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FastAPI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3279911" y="3913631"/>
            <a:ext cx="1102905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TextBox 17481"/>
          <p:cNvSpPr txBox="1"/>
          <p:nvPr/>
        </p:nvSpPr>
        <p:spPr>
          <a:xfrm>
            <a:off x="3279911" y="3909059"/>
            <a:ext cx="110290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Streamlit / React</a:t>
            </a:r>
          </a:p>
        </p:txBody>
      </p:sp>
      <p:sp>
        <p:nvSpPr>
          <p:cNvPr id="17483" name="Rounded Rectangle 17482"/>
          <p:cNvSpPr/>
          <p:nvPr/>
        </p:nvSpPr>
        <p:spPr>
          <a:xfrm>
            <a:off x="4433109" y="3913631"/>
            <a:ext cx="1008945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4" name="TextBox 17483"/>
          <p:cNvSpPr txBox="1"/>
          <p:nvPr/>
        </p:nvSpPr>
        <p:spPr>
          <a:xfrm>
            <a:off x="4433109" y="3909059"/>
            <a:ext cx="100894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GDAL · rasterio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5492347" y="3913631"/>
            <a:ext cx="1133266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TextBox 17485"/>
          <p:cNvSpPr txBox="1"/>
          <p:nvPr/>
        </p:nvSpPr>
        <p:spPr>
          <a:xfrm>
            <a:off x="5492347" y="3909059"/>
            <a:ext cx="113326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PyTorch + QLoRA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6675905" y="3913631"/>
            <a:ext cx="905162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TextBox 17487"/>
          <p:cNvSpPr txBox="1"/>
          <p:nvPr/>
        </p:nvSpPr>
        <p:spPr>
          <a:xfrm>
            <a:off x="6675905" y="3909059"/>
            <a:ext cx="90516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Qwen2-VL-2B</a:t>
            </a:r>
          </a:p>
        </p:txBody>
      </p:sp>
      <p:sp>
        <p:nvSpPr>
          <p:cNvPr id="17489" name="Rounded Rectangle 17488"/>
          <p:cNvSpPr/>
          <p:nvPr/>
        </p:nvSpPr>
        <p:spPr>
          <a:xfrm>
            <a:off x="7631360" y="3913631"/>
            <a:ext cx="1178113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0" name="TextBox 17489"/>
          <p:cNvSpPr txBox="1"/>
          <p:nvPr/>
        </p:nvSpPr>
        <p:spPr>
          <a:xfrm>
            <a:off x="7631360" y="3909059"/>
            <a:ext cx="117811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Grounding DINO-T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8859766" y="3913631"/>
            <a:ext cx="883334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8859766" y="3909059"/>
            <a:ext cx="8833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BiT · UNet++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9793392" y="3913631"/>
            <a:ext cx="845482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4" name="TextBox 17493"/>
          <p:cNvSpPr txBox="1"/>
          <p:nvPr/>
        </p:nvSpPr>
        <p:spPr>
          <a:xfrm>
            <a:off x="9793392" y="3909059"/>
            <a:ext cx="8454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SQLite trace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10689167" y="3913631"/>
            <a:ext cx="1035436" cy="256032"/>
          </a:xfrm>
          <a:prstGeom prst="roundRect">
            <a:avLst>
              <a:gd name="adj" fmla="val 42857"/>
            </a:avLst>
          </a:prstGeom>
          <a:solidFill>
            <a:srgbClr val="EAF3FC"/>
          </a:solidFill>
          <a:ln w="698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TextBox 17495"/>
          <p:cNvSpPr txBox="1"/>
          <p:nvPr/>
        </p:nvSpPr>
        <p:spPr>
          <a:xfrm>
            <a:off x="10689167" y="3909059"/>
            <a:ext cx="10354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Docker (offline)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274320" y="4370831"/>
            <a:ext cx="3273552" cy="1920240"/>
          </a:xfrm>
          <a:prstGeom prst="roundRect">
            <a:avLst>
              <a:gd name="adj" fmla="val 3809"/>
            </a:avLst>
          </a:prstGeom>
          <a:solidFill>
            <a:srgbClr val="FFF4E9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8" name="Rounded Rectangle 17497"/>
          <p:cNvSpPr/>
          <p:nvPr/>
        </p:nvSpPr>
        <p:spPr>
          <a:xfrm>
            <a:off x="365760" y="4443983"/>
            <a:ext cx="3090672" cy="256032"/>
          </a:xfrm>
          <a:prstGeom prst="roundRect">
            <a:avLst>
              <a:gd name="adj" fmla="val 32142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457200" y="4443983"/>
            <a:ext cx="290779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Times New Roman"/>
              </a:rPr>
              <a:t>SAR IS NOT RGB · what generic VLM pipelines skip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402336" y="4800599"/>
            <a:ext cx="3017520" cy="1207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00" b="1" i="0">
                <a:solidFill>
                  <a:srgbClr val="0F1418"/>
                </a:solidFill>
                <a:latin typeface="Arial"/>
              </a:rPr>
              <a:t>Radiometry: </a:t>
            </a:r>
            <a:r>
              <a:rPr sz="800" b="0" i="0">
                <a:solidFill>
                  <a:srgbClr val="5A6472"/>
                </a:solidFill>
                <a:latin typeface="Arial"/>
              </a:rPr>
              <a:t>backscatter stays in dB, with the stretch logged.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00" b="1" i="0">
                <a:solidFill>
                  <a:srgbClr val="0F1418"/>
                </a:solidFill>
                <a:latin typeface="Arial"/>
              </a:rPr>
              <a:t>Speckle: </a:t>
            </a:r>
            <a:r>
              <a:rPr sz="800" b="0" i="0">
                <a:solidFill>
                  <a:srgbClr val="5A6472"/>
                </a:solidFill>
                <a:latin typeface="Arial"/>
              </a:rPr>
              <a:t>log transform + refined Lee filter before any patch is cut.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00" b="1" i="0">
                <a:solidFill>
                  <a:srgbClr val="0F1418"/>
                </a:solidFill>
                <a:latin typeface="Arial"/>
              </a:rPr>
              <a:t>Polarisation: </a:t>
            </a:r>
            <a:r>
              <a:rPr sz="800" b="0" i="0">
                <a:solidFill>
                  <a:srgbClr val="5A6472"/>
                </a:solidFill>
                <a:latin typeface="Arial"/>
              </a:rPr>
              <a:t>VV / VH stay separate channels, never averaged.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00" b="1" i="0">
                <a:solidFill>
                  <a:srgbClr val="0F1418"/>
                </a:solidFill>
                <a:latin typeface="Arial"/>
              </a:rPr>
              <a:t>Encoders: </a:t>
            </a:r>
            <a:r>
              <a:rPr sz="800" b="0" i="0">
                <a:solidFill>
                  <a:srgbClr val="5A6472"/>
                </a:solidFill>
                <a:latin typeface="Arial"/>
              </a:rPr>
              <a:t>optical branch from BE v2.0 S2 weights, SAR branch from S1, fused from S1+S2 — that trio is also the ablation.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3712463" y="4370831"/>
            <a:ext cx="36027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3803903" y="4443983"/>
            <a:ext cx="3419856" cy="256032"/>
          </a:xfrm>
          <a:prstGeom prst="roundRect">
            <a:avLst>
              <a:gd name="adj" fmla="val 32142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TextBox 17502"/>
          <p:cNvSpPr txBox="1"/>
          <p:nvPr/>
        </p:nvSpPr>
        <p:spPr>
          <a:xfrm>
            <a:off x="3895343" y="4443983"/>
            <a:ext cx="32369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MODELS × DATA · why this is not a GPT wrapper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3858768" y="480974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70C0"/>
                </a:solidFill>
                <a:latin typeface="Arial"/>
              </a:rPr>
              <a:t>M1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4151375" y="48097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Qwen2-VL-2B + QLoRA 4-bit</a:t>
            </a:r>
            <a:r>
              <a:rPr sz="780" b="0" i="0">
                <a:solidFill>
                  <a:srgbClr val="5A6472"/>
                </a:solidFill>
                <a:latin typeface="Arial"/>
              </a:rPr>
              <a:t>  ·  BigEarthNet.txt · VRSBench · CDVQA · RSVQA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3858768" y="509778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70C0"/>
                </a:solidFill>
                <a:latin typeface="Arial"/>
              </a:rPr>
              <a:t>M3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4151375" y="50977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Grounding DINO-T</a:t>
            </a:r>
            <a:r>
              <a:rPr sz="780" b="0" i="0">
                <a:solidFill>
                  <a:srgbClr val="5A6472"/>
                </a:solidFill>
                <a:latin typeface="Arial"/>
              </a:rPr>
              <a:t>  ·  VRSBench boxes · BE v2.0 reference maps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3858768" y="5385816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70C0"/>
                </a:solidFill>
                <a:latin typeface="Arial"/>
              </a:rPr>
              <a:t>M4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4151375" y="53858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BiT encoder + change head</a:t>
            </a:r>
            <a:r>
              <a:rPr sz="780" b="0" i="0">
                <a:solidFill>
                  <a:srgbClr val="5A6472"/>
                </a:solidFill>
                <a:latin typeface="Arial"/>
              </a:rPr>
              <a:t>  ·  LEVIR-CD · WHU-CD · CDVQA pairs</a:t>
            </a:r>
          </a:p>
        </p:txBody>
      </p:sp>
      <p:sp>
        <p:nvSpPr>
          <p:cNvPr id="17510" name="TextBox 17509"/>
          <p:cNvSpPr txBox="1"/>
          <p:nvPr/>
        </p:nvSpPr>
        <p:spPr>
          <a:xfrm>
            <a:off x="3858768" y="5673852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70C0"/>
                </a:solidFill>
                <a:latin typeface="Arial"/>
              </a:rPr>
              <a:t>M7</a:t>
            </a:r>
          </a:p>
        </p:txBody>
      </p:sp>
      <p:sp>
        <p:nvSpPr>
          <p:cNvPr id="17511" name="TextBox 17510"/>
          <p:cNvSpPr txBox="1"/>
          <p:nvPr/>
        </p:nvSpPr>
        <p:spPr>
          <a:xfrm>
            <a:off x="4151375" y="56738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418"/>
                </a:solidFill>
                <a:latin typeface="Arial"/>
              </a:rPr>
              <a:t>resnet50, BE v2.0 pretrained</a:t>
            </a:r>
            <a:r>
              <a:rPr sz="780" b="0" i="0">
                <a:solidFill>
                  <a:srgbClr val="5A6472"/>
                </a:solidFill>
                <a:latin typeface="Arial"/>
              </a:rPr>
              <a:t>  ·  S1 / S2 / S1+S2, 19 land-cover classes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3858768" y="5940517"/>
            <a:ext cx="3310128" cy="231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5A6472"/>
                </a:solidFill>
                <a:latin typeface="Arial"/>
              </a:rPr>
              <a:t>Training mix is weighted to paired samples: the PS names joint cross-modal and bi-temporal reasoning as the principal focus (P1).</a:t>
            </a:r>
          </a:p>
        </p:txBody>
      </p:sp>
      <p:sp>
        <p:nvSpPr>
          <p:cNvPr id="17513" name="Rounded Rectangle 17512"/>
          <p:cNvSpPr/>
          <p:nvPr/>
        </p:nvSpPr>
        <p:spPr>
          <a:xfrm>
            <a:off x="7479792" y="4370831"/>
            <a:ext cx="4434839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4" name="Rounded Rectangle 17513"/>
          <p:cNvSpPr/>
          <p:nvPr/>
        </p:nvSpPr>
        <p:spPr>
          <a:xfrm>
            <a:off x="7571231" y="4443983"/>
            <a:ext cx="4251959" cy="256032"/>
          </a:xfrm>
          <a:prstGeom prst="roundRect">
            <a:avLst>
              <a:gd name="adj" fmla="val 32142"/>
            </a:avLst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5" name="TextBox 17514"/>
          <p:cNvSpPr txBox="1"/>
          <p:nvPr/>
        </p:nvSpPr>
        <p:spPr>
          <a:xfrm>
            <a:off x="7662671" y="4443983"/>
            <a:ext cx="4069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RUNNING PROTOTYPE · 48 tests · live registry, router, trace</a:t>
            </a:r>
          </a:p>
        </p:txBody>
      </p:sp>
      <p:pic>
        <p:nvPicPr>
          <p:cNvPr id="17516" name="Picture 17515" descr="pr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4809744"/>
            <a:ext cx="4178807" cy="1046812"/>
          </a:xfrm>
          <a:prstGeom prst="rect">
            <a:avLst/>
          </a:prstGeom>
        </p:spPr>
      </p:pic>
      <p:sp>
        <p:nvSpPr>
          <p:cNvPr id="17517" name="TextBox 17516"/>
          <p:cNvSpPr txBox="1"/>
          <p:nvPr/>
        </p:nvSpPr>
        <p:spPr>
          <a:xfrm>
            <a:off x="7626096" y="6044183"/>
            <a:ext cx="4142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1">
                <a:solidFill>
                  <a:srgbClr val="5A6472"/>
                </a:solidFill>
                <a:latin typeface="Arial"/>
              </a:rPr>
              <a:t>answer card and live trace — untrained tools carry an honest HEURISTIC badge instead of a fake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713232"/>
          </a:xfrm>
        </p:spPr>
        <p:txBody>
          <a:bodyPr/>
          <a:lstStyle/>
          <a:p>
            <a:pPr eaLnBrk="1" hangingPunct="1" algn="ctr"/>
            <a:r>
              <a:rPr sz="2700" b="1">
                <a:solidFill>
                  <a:srgbClr val="0F1418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2C8D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83080" y="786384"/>
            <a:ext cx="7818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A6472"/>
                </a:solidFill>
                <a:latin typeface="Arial"/>
              </a:rPr>
              <a:t>Analysis of the feasibility of the idea  ·  potential challenges and risks  ·  strategies for overcoming these challenges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133856"/>
            <a:ext cx="11640311" cy="365760"/>
          </a:xfrm>
          <a:prstGeom prst="roundRect">
            <a:avLst>
              <a:gd name="adj" fmla="val 15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20623" y="115214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Arial"/>
              </a:rPr>
              <a:t>15-DAY PATH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847088" y="1184148"/>
            <a:ext cx="868680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1892807" y="1179576"/>
            <a:ext cx="777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5 Sep  </a:t>
            </a:r>
            <a:r>
              <a:rPr sz="800" b="0" i="0">
                <a:solidFill>
                  <a:srgbClr val="5A6472"/>
                </a:solidFill>
                <a:latin typeface="Arial"/>
              </a:rPr>
              <a:t>Round-1 pitch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2720340" y="1316736"/>
            <a:ext cx="82296" cy="0"/>
          </a:xfrm>
          <a:prstGeom prst="line">
            <a:avLst/>
          </a:prstGeom>
          <a:ln w="12700">
            <a:solidFill>
              <a:srgbClr val="ED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2798064" y="1184148"/>
            <a:ext cx="1280160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2843784" y="1179576"/>
            <a:ext cx="1188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D1–D4  </a:t>
            </a:r>
            <a:r>
              <a:rPr sz="800" b="0" i="0">
                <a:solidFill>
                  <a:srgbClr val="5A6472"/>
                </a:solidFill>
                <a:latin typeface="Arial"/>
              </a:rPr>
              <a:t>data + M1 QLoRA starts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082796" y="1316736"/>
            <a:ext cx="82296" cy="0"/>
          </a:xfrm>
          <a:prstGeom prst="line">
            <a:avLst/>
          </a:prstGeom>
          <a:ln w="12700">
            <a:solidFill>
              <a:srgbClr val="ED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4160520" y="1184148"/>
            <a:ext cx="1371600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4206240" y="1179576"/>
            <a:ext cx="1280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D5–D8  </a:t>
            </a:r>
            <a:r>
              <a:rPr sz="800" b="0" i="0">
                <a:solidFill>
                  <a:srgbClr val="5A6472"/>
                </a:solidFill>
                <a:latin typeface="Arial"/>
              </a:rPr>
              <a:t>M4, M3, M7 into registry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536692" y="1316736"/>
            <a:ext cx="82296" cy="0"/>
          </a:xfrm>
          <a:prstGeom prst="line">
            <a:avLst/>
          </a:prstGeom>
          <a:ln w="12700">
            <a:solidFill>
              <a:srgbClr val="ED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5614416" y="1184148"/>
            <a:ext cx="1508760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660136" y="1179576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D9–D12  </a:t>
            </a:r>
            <a:r>
              <a:rPr sz="800" b="0" i="0">
                <a:solidFill>
                  <a:srgbClr val="5A6472"/>
                </a:solidFill>
                <a:latin typeface="Arial"/>
              </a:rPr>
              <a:t>planner, abstention, report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7127748" y="1316736"/>
            <a:ext cx="82296" cy="0"/>
          </a:xfrm>
          <a:prstGeom prst="line">
            <a:avLst/>
          </a:prstGeom>
          <a:ln w="12700">
            <a:solidFill>
              <a:srgbClr val="ED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7205472" y="1184148"/>
            <a:ext cx="1325880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7251192" y="1179576"/>
            <a:ext cx="12344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D13–D15  </a:t>
            </a:r>
            <a:r>
              <a:rPr sz="800" b="0" i="0">
                <a:solidFill>
                  <a:srgbClr val="5A6472"/>
                </a:solidFill>
                <a:latin typeface="Arial"/>
              </a:rPr>
              <a:t>benchmarks + demo video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8535924" y="1316736"/>
            <a:ext cx="82296" cy="0"/>
          </a:xfrm>
          <a:prstGeom prst="line">
            <a:avLst/>
          </a:prstGeom>
          <a:ln w="12700">
            <a:solidFill>
              <a:srgbClr val="EDF1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8613648" y="1184148"/>
            <a:ext cx="1188720" cy="265176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8659368" y="1179576"/>
            <a:ext cx="10972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20 Sep  </a:t>
            </a:r>
            <a:r>
              <a:rPr sz="800" b="0" i="0">
                <a:solidFill>
                  <a:srgbClr val="5A6472"/>
                </a:solidFill>
                <a:latin typeface="Arial"/>
              </a:rPr>
              <a:t>code + models + test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74320" y="1609344"/>
            <a:ext cx="3770375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Rounded Rectangle 17430"/>
          <p:cNvSpPr/>
          <p:nvPr/>
        </p:nvSpPr>
        <p:spPr>
          <a:xfrm>
            <a:off x="356616" y="1682496"/>
            <a:ext cx="3605783" cy="274320"/>
          </a:xfrm>
          <a:prstGeom prst="roundRect">
            <a:avLst>
              <a:gd name="adj" fmla="val 16666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402336" y="1691640"/>
            <a:ext cx="3514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02336" y="2011680"/>
            <a:ext cx="3514343" cy="1284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Weights are open, cost is zero: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Qwen2-VL, Grounding DINO-T, BiT, UNet++, BigEarthNet v2.0 checkpoints — no licence, no paid API.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Scope was cut to fit the compute: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4-bit QLoRA on a 2B backbone fits a free 16 GB notebook GPU; M4 and M3 train on a 6 GB laptop.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The skeleton is already code, not a plan: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ingestion, registry, guardrail, router, trace and web UI run today with 48 passing tests; new tools swap in behind a frozen contract.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209287" y="1609344"/>
            <a:ext cx="3770375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Rounded Rectangle 17434"/>
          <p:cNvSpPr/>
          <p:nvPr/>
        </p:nvSpPr>
        <p:spPr>
          <a:xfrm>
            <a:off x="4291583" y="1682496"/>
            <a:ext cx="3605783" cy="274320"/>
          </a:xfrm>
          <a:prstGeom prst="roundRect">
            <a:avLst>
              <a:gd name="adj" fmla="val 16666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4337303" y="1691640"/>
            <a:ext cx="3514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VIABILITY &amp; PRACTICALITY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337303" y="2011680"/>
            <a:ext cx="3514343" cy="1284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Deployable where ISRO actually is: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dockerised, single node, no internet, CPU fallback for the light path; ingest accepts Cartosat-2S and RISAT pairs by design (P14).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Every gate is measurable: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metric thresholds on public splits before submission, and scores normalised before combining (P15) so one spiked metric cannot hide a weak 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Demo-safe by construction: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deterministic router plus cached-answer mode means the presentation never depends on a lucky inference.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8144256" y="1609344"/>
            <a:ext cx="3770375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Rounded Rectangle 17438"/>
          <p:cNvSpPr/>
          <p:nvPr/>
        </p:nvSpPr>
        <p:spPr>
          <a:xfrm>
            <a:off x="8226551" y="1682496"/>
            <a:ext cx="3605783" cy="274320"/>
          </a:xfrm>
          <a:prstGeom prst="roundRect">
            <a:avLst>
              <a:gd name="adj" fmla="val 16666"/>
            </a:avLst>
          </a:prstGeom>
          <a:solidFill>
            <a:srgbClr val="5B2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8272272" y="1691640"/>
            <a:ext cx="3514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WHAT IS ALREADY PROVEN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272272" y="2011680"/>
            <a:ext cx="3514343" cy="1152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Optical / SAR / fused numbers exist today: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BE v2.0 resnet50 checkpoints — macro mAP 0.711 on S1+S2 against single-modality variants, at zero training cost.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Data is verified, not assumed: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BigEarthNet.txt = 467 MB parquet, 9.55 M rows, CDLA-Permissive-1.0; BE v2.0 imagery 118 GB plus 282 MB per-pixel reference maps.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6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Risk work is done:</a:t>
            </a:r>
            <a:r>
              <a:rPr sz="830" b="0" i="0">
                <a:solidFill>
                  <a:srgbClr val="5A6472"/>
                </a:solidFill>
                <a:latin typeface="Arial"/>
              </a:rPr>
              <a:t> all 15 binding PS clauses mapped to a design decision; 5 gaps in the official text logged (G1–G5).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74320" y="3456432"/>
            <a:ext cx="11640311" cy="292608"/>
          </a:xfrm>
          <a:prstGeom prst="roundRect">
            <a:avLst>
              <a:gd name="adj" fmla="val 15625"/>
            </a:avLst>
          </a:prstGeom>
          <a:solidFill>
            <a:srgbClr val="EEF2F7"/>
          </a:solidFill>
          <a:ln w="889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20623" y="346557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2828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281927" y="346557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A43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274320" y="3822191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FDECEB"/>
          </a:solidFill>
          <a:ln w="698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Rounded Rectangle 17445"/>
          <p:cNvSpPr/>
          <p:nvPr/>
        </p:nvSpPr>
        <p:spPr>
          <a:xfrm>
            <a:off x="6560820" y="3822191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EAF7EF"/>
          </a:solidFill>
          <a:ln w="698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Oval 17446"/>
          <p:cNvSpPr/>
          <p:nvPr/>
        </p:nvSpPr>
        <p:spPr>
          <a:xfrm>
            <a:off x="5669279" y="3929454"/>
            <a:ext cx="192024" cy="19202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5669279" y="3924882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49" name="Oval 17448"/>
          <p:cNvSpPr/>
          <p:nvPr/>
        </p:nvSpPr>
        <p:spPr>
          <a:xfrm>
            <a:off x="6327648" y="3929454"/>
            <a:ext cx="192024" cy="19202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6327648" y="3924882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384048" y="3854196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Domain gap — we train on Sentinel (10–20 m), the hidden ISRO set is Cartosat-2S (~1 m) and RISAT L-band (G5).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670548" y="3854196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Tile-based, sensor-agnostic pipeline; week-1 proxy runs on public VHR and L-band sets; report per-class scores, not only the mean.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5870447" y="4025466"/>
            <a:ext cx="438912" cy="0"/>
          </a:xfrm>
          <a:prstGeom prst="line">
            <a:avLst/>
          </a:prstGeom>
          <a:ln w="10160">
            <a:solidFill>
              <a:srgbClr val="5A647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274320" y="4279033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FDECEB"/>
          </a:solidFill>
          <a:ln w="698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ounded Rectangle 17454"/>
          <p:cNvSpPr/>
          <p:nvPr/>
        </p:nvSpPr>
        <p:spPr>
          <a:xfrm>
            <a:off x="6560820" y="4279033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EAF7EF"/>
          </a:solidFill>
          <a:ln w="698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5669279" y="4386296"/>
            <a:ext cx="192024" cy="19202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5669279" y="4381724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58" name="Oval 17457"/>
          <p:cNvSpPr/>
          <p:nvPr/>
        </p:nvSpPr>
        <p:spPr>
          <a:xfrm>
            <a:off x="6327648" y="4386296"/>
            <a:ext cx="192024" cy="19202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6327648" y="4381724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384048" y="4311037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6 GB VRAM at the venue; no GPU is promised to teams.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670548" y="4311037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2B backbone at 4-bit, load-and-evict per tool, no vLLM; heavy training only on free 16 GB notebooks.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5870447" y="4482308"/>
            <a:ext cx="438912" cy="0"/>
          </a:xfrm>
          <a:prstGeom prst="line">
            <a:avLst/>
          </a:prstGeom>
          <a:ln w="10160">
            <a:solidFill>
              <a:srgbClr val="5A647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274320" y="4735875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FDECEB"/>
          </a:solidFill>
          <a:ln w="698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Rounded Rectangle 17463"/>
          <p:cNvSpPr/>
          <p:nvPr/>
        </p:nvSpPr>
        <p:spPr>
          <a:xfrm>
            <a:off x="6560820" y="4735875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EAF7EF"/>
          </a:solidFill>
          <a:ln w="698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Oval 17464"/>
          <p:cNvSpPr/>
          <p:nvPr/>
        </p:nvSpPr>
        <p:spPr>
          <a:xfrm>
            <a:off x="5669279" y="4843138"/>
            <a:ext cx="192024" cy="19202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5669279" y="4838566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6327648" y="4843138"/>
            <a:ext cx="192024" cy="19202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6327648" y="4838566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384048" y="4767879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The PS judging table is an unfilled placeholder (G1) and reference annotations stay undisclosed (P14).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6670548" y="4767879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Train on the five PS-named public benchmarks, freeze contracts early, and ship a normalised metric table instead of one lucky number.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5870447" y="4939150"/>
            <a:ext cx="438912" cy="0"/>
          </a:xfrm>
          <a:prstGeom prst="line">
            <a:avLst/>
          </a:prstGeom>
          <a:ln w="10160">
            <a:solidFill>
              <a:srgbClr val="5A647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Rounded Rectangle 17471"/>
          <p:cNvSpPr/>
          <p:nvPr/>
        </p:nvSpPr>
        <p:spPr>
          <a:xfrm>
            <a:off x="274320" y="5192717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FDECEB"/>
          </a:solidFill>
          <a:ln w="698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Rounded Rectangle 17472"/>
          <p:cNvSpPr/>
          <p:nvPr/>
        </p:nvSpPr>
        <p:spPr>
          <a:xfrm>
            <a:off x="6560820" y="5192717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EAF7EF"/>
          </a:solidFill>
          <a:ln w="698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Oval 17473"/>
          <p:cNvSpPr/>
          <p:nvPr/>
        </p:nvSpPr>
        <p:spPr>
          <a:xfrm>
            <a:off x="5669279" y="5299980"/>
            <a:ext cx="192024" cy="19202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5669279" y="5295408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76" name="Oval 17475"/>
          <p:cNvSpPr/>
          <p:nvPr/>
        </p:nvSpPr>
        <p:spPr>
          <a:xfrm>
            <a:off x="6327648" y="5299980"/>
            <a:ext cx="192024" cy="19202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6327648" y="5295408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384048" y="5224721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Demo-day failure in front of the panel.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6670548" y="5224721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Deterministic fallback router, cached-answer kill switch, 3–5 frozen demo scenes, dry run on the presenting laptop.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5870447" y="5395992"/>
            <a:ext cx="438912" cy="0"/>
          </a:xfrm>
          <a:prstGeom prst="line">
            <a:avLst/>
          </a:prstGeom>
          <a:ln w="10160">
            <a:solidFill>
              <a:srgbClr val="5A647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274320" y="5649559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FDECEB"/>
          </a:solidFill>
          <a:ln w="698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Rounded Rectangle 17481"/>
          <p:cNvSpPr/>
          <p:nvPr/>
        </p:nvSpPr>
        <p:spPr>
          <a:xfrm>
            <a:off x="6560820" y="5649559"/>
            <a:ext cx="5353812" cy="406549"/>
          </a:xfrm>
          <a:prstGeom prst="roundRect">
            <a:avLst>
              <a:gd name="adj" fmla="val 8996"/>
            </a:avLst>
          </a:prstGeom>
          <a:solidFill>
            <a:srgbClr val="EAF7EF"/>
          </a:solidFill>
          <a:ln w="698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Oval 17482"/>
          <p:cNvSpPr/>
          <p:nvPr/>
        </p:nvSpPr>
        <p:spPr>
          <a:xfrm>
            <a:off x="5669279" y="5756822"/>
            <a:ext cx="192024" cy="19202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4" name="TextBox 17483"/>
          <p:cNvSpPr txBox="1"/>
          <p:nvPr/>
        </p:nvSpPr>
        <p:spPr>
          <a:xfrm>
            <a:off x="5669279" y="5752250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85" name="Oval 17484"/>
          <p:cNvSpPr/>
          <p:nvPr/>
        </p:nvSpPr>
        <p:spPr>
          <a:xfrm>
            <a:off x="6327648" y="5756822"/>
            <a:ext cx="192024" cy="19202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TextBox 17485"/>
          <p:cNvSpPr txBox="1"/>
          <p:nvPr/>
        </p:nvSpPr>
        <p:spPr>
          <a:xfrm>
            <a:off x="6327648" y="5752250"/>
            <a:ext cx="192024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384048" y="5681563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Three trained models in 15 days is tight.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6670548" y="5681563"/>
            <a:ext cx="5079492" cy="351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F1418"/>
                </a:solidFill>
                <a:latin typeface="Arial"/>
              </a:rPr>
              <a:t>Binding triage M1 / M4 / M3 with free pretrained M7, checkpoint every 15 min, one clear day of slack before submission.</a:t>
            </a:r>
          </a:p>
        </p:txBody>
      </p:sp>
      <p:cxnSp>
        <p:nvCxnSpPr>
          <p:cNvPr id="17489" name="Connector 17488"/>
          <p:cNvCxnSpPr/>
          <p:nvPr/>
        </p:nvCxnSpPr>
        <p:spPr>
          <a:xfrm>
            <a:off x="5870447" y="5852834"/>
            <a:ext cx="438912" cy="0"/>
          </a:xfrm>
          <a:prstGeom prst="line">
            <a:avLst/>
          </a:prstGeom>
          <a:ln w="10160">
            <a:solidFill>
              <a:srgbClr val="5A647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713232"/>
          </a:xfrm>
        </p:spPr>
        <p:txBody>
          <a:bodyPr/>
          <a:lstStyle/>
          <a:p>
            <a:pPr eaLnBrk="1" hangingPunct="1" algn="ctr"/>
            <a:r>
              <a:rPr sz="2700" b="1">
                <a:solidFill>
                  <a:srgbClr val="0F1418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2C8D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83080" y="786384"/>
            <a:ext cx="7818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A6472"/>
                </a:solidFill>
                <a:latin typeface="Arial"/>
              </a:rPr>
              <a:t>Potential impact on the target audience  ·  benefits of the solution (social, economic, environmental)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133856"/>
            <a:ext cx="7296912" cy="4608576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84048" y="1225296"/>
            <a:ext cx="7077456" cy="274320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75488" y="1225296"/>
            <a:ext cx="68945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POTENTIAL IMPACT ON THE TARGET AUDIENCE · who can ask in minutes what today needs a GIS team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941831" y="2743200"/>
            <a:ext cx="1700784" cy="1700784"/>
          </a:xfrm>
          <a:prstGeom prst="ellipse">
            <a:avLst/>
          </a:prstGeom>
          <a:noFill/>
          <a:ln w="3048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Oval 17414"/>
          <p:cNvSpPr/>
          <p:nvPr/>
        </p:nvSpPr>
        <p:spPr>
          <a:xfrm>
            <a:off x="1170431" y="2971800"/>
            <a:ext cx="1243584" cy="1243584"/>
          </a:xfrm>
          <a:prstGeom prst="ellipse">
            <a:avLst/>
          </a:prstGeom>
          <a:solidFill>
            <a:srgbClr val="EAF3F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1188719" y="3246120"/>
            <a:ext cx="120700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 i="0">
                <a:solidFill>
                  <a:srgbClr val="1F497D"/>
                </a:solidFill>
                <a:latin typeface="Arial"/>
              </a:rPr>
              <a:t>SatQuery AI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740" b="0" i="0">
                <a:solidFill>
                  <a:srgbClr val="5A6472"/>
                </a:solidFill>
                <a:latin typeface="Arial"/>
              </a:rPr>
              <a:t>one question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740" b="0" i="0">
                <a:solidFill>
                  <a:srgbClr val="5A6472"/>
                </a:solidFill>
                <a:latin typeface="Arial"/>
              </a:rPr>
              <a:t>one trace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A6472"/>
                </a:solidFill>
                <a:latin typeface="Arial"/>
              </a:rPr>
              <a:t>six user groups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944368" y="1627632"/>
            <a:ext cx="2194560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Rectangle 17417"/>
          <p:cNvSpPr/>
          <p:nvPr/>
        </p:nvSpPr>
        <p:spPr>
          <a:xfrm>
            <a:off x="2944368" y="1627632"/>
            <a:ext cx="2194560" cy="64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3035808" y="1994349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0070C0"/>
                </a:solidFill>
                <a:latin typeface="Arial"/>
              </a:rPr>
              <a:t>ISRO / SAC analysts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035808" y="2213805"/>
            <a:ext cx="2011679" cy="36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Arial"/>
              </a:rPr>
              <a:t>a tasking question answered in minutes with the evidence attached, instead of days of scripting in QGIS</a:t>
            </a:r>
          </a:p>
        </p:txBody>
      </p:sp>
      <p:cxnSp>
        <p:nvCxnSpPr>
          <p:cNvPr id="17421" name="Connector 17420"/>
          <p:cNvCxnSpPr/>
          <p:nvPr/>
        </p:nvCxnSpPr>
        <p:spPr>
          <a:xfrm flipV="1">
            <a:off x="2642615" y="2286000"/>
            <a:ext cx="288036" cy="740663"/>
          </a:xfrm>
          <a:prstGeom prst="line">
            <a:avLst/>
          </a:prstGeom>
          <a:ln w="11430">
            <a:solidFill>
              <a:srgbClr val="0070C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5248656" y="1627632"/>
            <a:ext cx="2194560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143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Rectangle 17422"/>
          <p:cNvSpPr/>
          <p:nvPr/>
        </p:nvSpPr>
        <p:spPr>
          <a:xfrm>
            <a:off x="5248656" y="1627632"/>
            <a:ext cx="2194560" cy="64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5340096" y="1994349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C62828"/>
                </a:solidFill>
                <a:latin typeface="Arial"/>
              </a:rPr>
              <a:t>Disaster &amp; flood cells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340096" y="2213805"/>
            <a:ext cx="2011679" cy="36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Arial"/>
              </a:rPr>
              <a:t>change map plus change-VQA on the first pass after an event; SAR works through cloud and at night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5157215" y="2286000"/>
            <a:ext cx="77725" cy="0"/>
          </a:xfrm>
          <a:prstGeom prst="line">
            <a:avLst/>
          </a:prstGeom>
          <a:ln w="11430">
            <a:solidFill>
              <a:srgbClr val="C6282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2944368" y="2999232"/>
            <a:ext cx="2194560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143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ectangle 17427"/>
          <p:cNvSpPr/>
          <p:nvPr/>
        </p:nvSpPr>
        <p:spPr>
          <a:xfrm>
            <a:off x="2944368" y="2999232"/>
            <a:ext cx="2194560" cy="6400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3035808" y="3365949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E9E5B"/>
                </a:solidFill>
                <a:latin typeface="Arial"/>
              </a:rPr>
              <a:t>Agriculture &amp; water boards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035808" y="3585405"/>
            <a:ext cx="2011679" cy="36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Arial"/>
              </a:rPr>
              <a:t>reservoir, crop and water-body questions in plain language, so field officers stop waiting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2642615" y="3593591"/>
            <a:ext cx="288036" cy="64009"/>
          </a:xfrm>
          <a:prstGeom prst="line">
            <a:avLst/>
          </a:prstGeom>
          <a:ln w="11430">
            <a:solidFill>
              <a:srgbClr val="2E9E5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5248656" y="2999232"/>
            <a:ext cx="2194560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143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Rectangle 17432"/>
          <p:cNvSpPr/>
          <p:nvPr/>
        </p:nvSpPr>
        <p:spPr>
          <a:xfrm>
            <a:off x="5248656" y="2999232"/>
            <a:ext cx="2194560" cy="64008"/>
          </a:xfrm>
          <a:prstGeom prst="rect">
            <a:avLst/>
          </a:prstGeom>
          <a:solidFill>
            <a:srgbClr val="5B2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5340096" y="3365949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5B2C8D"/>
                </a:solidFill>
                <a:latin typeface="Arial"/>
              </a:rPr>
              <a:t>Urban planning &amp; municipal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340096" y="3585405"/>
            <a:ext cx="2011679" cy="36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Arial"/>
              </a:rPr>
              <a:t>built-up growth measured from an auditable mask, defensible in an encroachment case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5157215" y="3657600"/>
            <a:ext cx="77725" cy="0"/>
          </a:xfrm>
          <a:prstGeom prst="line">
            <a:avLst/>
          </a:prstGeom>
          <a:ln w="11430">
            <a:solidFill>
              <a:srgbClr val="5B2C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2944368" y="4370832"/>
            <a:ext cx="2194560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143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Rectangle 17437"/>
          <p:cNvSpPr/>
          <p:nvPr/>
        </p:nvSpPr>
        <p:spPr>
          <a:xfrm>
            <a:off x="2944368" y="4370832"/>
            <a:ext cx="2194560" cy="64008"/>
          </a:xfrm>
          <a:prstGeom prst="rect">
            <a:avLst/>
          </a:prstGeom>
          <a:solidFill>
            <a:srgbClr val="0F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3035808" y="4737549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0F8C82"/>
                </a:solidFill>
                <a:latin typeface="Arial"/>
              </a:rPr>
              <a:t>Researchers &amp; students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035808" y="4957005"/>
            <a:ext cx="2011679" cy="36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Arial"/>
              </a:rPr>
              <a:t>open traces, published metric tables and a downloadable report make results reproducible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2642615" y="4160520"/>
            <a:ext cx="288036" cy="868680"/>
          </a:xfrm>
          <a:prstGeom prst="line">
            <a:avLst/>
          </a:prstGeom>
          <a:ln w="11430">
            <a:solidFill>
              <a:srgbClr val="0F8C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5248656" y="4370832"/>
            <a:ext cx="2194560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143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ectangle 17442"/>
          <p:cNvSpPr/>
          <p:nvPr/>
        </p:nvSpPr>
        <p:spPr>
          <a:xfrm>
            <a:off x="5248656" y="4370832"/>
            <a:ext cx="2194560" cy="64008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5340096" y="4737549"/>
            <a:ext cx="201167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E87722"/>
                </a:solidFill>
                <a:latin typeface="Arial"/>
              </a:rPr>
              <a:t>National capability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340096" y="4957005"/>
            <a:ext cx="2011679" cy="36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Arial"/>
              </a:rPr>
              <a:t>an in-house replacement for single-task vendor imagery pipelines: Rs 0 licence, offline, on Indian data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5157215" y="5029200"/>
            <a:ext cx="77725" cy="0"/>
          </a:xfrm>
          <a:prstGeom prst="line">
            <a:avLst/>
          </a:prstGeom>
          <a:ln w="11430">
            <a:solidFill>
              <a:srgbClr val="E8772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7735824" y="1133856"/>
            <a:ext cx="4178807" cy="4608576"/>
          </a:xfrm>
          <a:prstGeom prst="roundRect">
            <a:avLst>
              <a:gd name="adj" fmla="val 1750"/>
            </a:avLst>
          </a:prstGeom>
          <a:solidFill>
            <a:srgbClr val="EAF3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Rounded Rectangle 17447"/>
          <p:cNvSpPr/>
          <p:nvPr/>
        </p:nvSpPr>
        <p:spPr>
          <a:xfrm>
            <a:off x="7845552" y="1225296"/>
            <a:ext cx="3959351" cy="274320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7936992" y="1225296"/>
            <a:ext cx="37764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BENEFITS OF THE SOLUTION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7845552" y="1581912"/>
            <a:ext cx="3959351" cy="846093"/>
          </a:xfrm>
          <a:prstGeom prst="roundRect">
            <a:avLst>
              <a:gd name="adj" fmla="val 5403"/>
            </a:avLst>
          </a:prstGeom>
          <a:solidFill>
            <a:srgbClr val="FFFFFF"/>
          </a:solidFill>
          <a:ln w="1143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Rectangle 17450"/>
          <p:cNvSpPr/>
          <p:nvPr/>
        </p:nvSpPr>
        <p:spPr>
          <a:xfrm>
            <a:off x="7845552" y="1581912"/>
            <a:ext cx="64008" cy="846093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7991856" y="1636776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E9E5B"/>
                </a:solidFill>
                <a:latin typeface="Arial"/>
              </a:rPr>
              <a:t>SOCIAL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991856" y="1819656"/>
            <a:ext cx="3611879" cy="571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</a:pPr>
            <a:r>
              <a:rPr sz="840" b="0" i="0">
                <a:solidFill>
                  <a:srgbClr val="0F1418"/>
                </a:solidFill>
                <a:latin typeface="Arial"/>
              </a:rPr>
              <a:t>Democratises satellite intelligence: an officer types a question and gets a checkable answer. The skill barrier, not the satellite, is what is removed.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5A6472"/>
                </a:solidFill>
                <a:latin typeface="Arial"/>
              </a:rPr>
              <a:t>plain language · answers legible to non-experts · no vendor lock-in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7845552" y="2510301"/>
            <a:ext cx="3959351" cy="708988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Rectangle 17454"/>
          <p:cNvSpPr/>
          <p:nvPr/>
        </p:nvSpPr>
        <p:spPr>
          <a:xfrm>
            <a:off x="7845552" y="2510301"/>
            <a:ext cx="64008" cy="70898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7991856" y="2565165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0C0"/>
                </a:solidFill>
                <a:latin typeface="Arial"/>
              </a:rPr>
              <a:t>ECONOMIC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991856" y="2748045"/>
            <a:ext cx="3611879" cy="4346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</a:pPr>
            <a:r>
              <a:rPr sz="840" b="0" i="0">
                <a:solidFill>
                  <a:srgbClr val="0F1418"/>
                </a:solidFill>
                <a:latin typeface="Arial"/>
              </a:rPr>
              <a:t>One assistant replaces a shelf of single-task imagery pipelines, and returns analyst-hours on every tasking cycle.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5A6472"/>
                </a:solidFill>
                <a:latin typeface="Arial"/>
              </a:rPr>
              <a:t>Rs 0 licence · days to minutes per query · trains on a 6 GB GPU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7845552" y="3301585"/>
            <a:ext cx="3959351" cy="846093"/>
          </a:xfrm>
          <a:prstGeom prst="roundRect">
            <a:avLst>
              <a:gd name="adj" fmla="val 5403"/>
            </a:avLst>
          </a:prstGeom>
          <a:solidFill>
            <a:srgbClr val="FFFFFF"/>
          </a:solidFill>
          <a:ln w="11430">
            <a:solidFill>
              <a:srgbClr val="0F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Rectangle 17458"/>
          <p:cNvSpPr/>
          <p:nvPr/>
        </p:nvSpPr>
        <p:spPr>
          <a:xfrm>
            <a:off x="7845552" y="3301585"/>
            <a:ext cx="64008" cy="846093"/>
          </a:xfrm>
          <a:prstGeom prst="rect">
            <a:avLst/>
          </a:prstGeom>
          <a:solidFill>
            <a:srgbClr val="0F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7991856" y="3356449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F8C82"/>
                </a:solidFill>
                <a:latin typeface="Arial"/>
              </a:rPr>
              <a:t>ENVIRONMENTAL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7991856" y="3539329"/>
            <a:ext cx="3611879" cy="571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</a:pPr>
            <a:r>
              <a:rPr sz="840" b="0" i="0">
                <a:solidFill>
                  <a:srgbClr val="0F1418"/>
                </a:solidFill>
                <a:latin typeface="Arial"/>
              </a:rPr>
              <a:t>Faster detection of floods, shrinking water bodies and encroachment — the response starts while the window is still open.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5A6472"/>
                </a:solidFill>
                <a:latin typeface="Arial"/>
              </a:rPr>
              <a:t>cloud-proof SAR · change flagged within one revisit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7845552" y="4229974"/>
            <a:ext cx="3959351" cy="1421017"/>
          </a:xfrm>
          <a:prstGeom prst="roundRect">
            <a:avLst>
              <a:gd name="adj" fmla="val 3217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7973568" y="4284838"/>
            <a:ext cx="3703319" cy="1311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SCALES WITHOUT A REWRITE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DF1F5"/>
                </a:solidFill>
                <a:latin typeface="Arial"/>
              </a:rPr>
              <a:t>One tool contract per capability, so a new sensor or band combination is a registry entry rather than a rebuild — and every answer stays auditable.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274320" y="5833872"/>
            <a:ext cx="11640311" cy="45720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 w="1143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475488" y="5852159"/>
            <a:ext cx="112379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1">
                <a:solidFill>
                  <a:srgbClr val="16324F"/>
                </a:solidFill>
                <a:latin typeface="Times New Roman"/>
              </a:rPr>
              <a:t>“Every answer with evidence, confidence and an audit trail: satellite intelligence anyone can query, offline, at zero licence cost.”</a:t>
            </a:r>
            <a:r>
              <a:rPr sz="880" b="0" i="0">
                <a:solidFill>
                  <a:srgbClr val="5A6472"/>
                </a:solidFill>
                <a:latin typeface="Arial"/>
              </a:rPr>
              <a:t>      Pilot path:  SAC internal pilot  »  ISRO operational nodes  »  state disaster cells and imagery desks.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713232"/>
          </a:xfrm>
        </p:spPr>
        <p:txBody>
          <a:bodyPr/>
          <a:lstStyle/>
          <a:p>
            <a:pPr eaLnBrk="1" hangingPunct="1" algn="ctr"/>
            <a:r>
              <a:rPr sz="2700" b="1">
                <a:solidFill>
                  <a:srgbClr val="0F1418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2C8D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83080" y="786384"/>
            <a:ext cx="7818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A6472"/>
                </a:solidFill>
                <a:latin typeface="Arial"/>
              </a:rPr>
              <a:t>Details / links of the reference and research work  ·  datasets, models, benchmarks and the evidence we gathered ourselves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74320" y="1133856"/>
            <a:ext cx="5737859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84048" y="1216152"/>
            <a:ext cx="5518403" cy="256032"/>
          </a:xfrm>
          <a:prstGeom prst="roundRect">
            <a:avLst>
              <a:gd name="adj" fmla="val 32142"/>
            </a:avLst>
          </a:prstGeom>
          <a:solidFill>
            <a:srgbClr val="1E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75488" y="1216152"/>
            <a:ext cx="533552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imes New Roman"/>
              </a:rPr>
              <a:t>OUR PRIMARY RESEARCH FOR THIS SUBMISSION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0623" y="1563624"/>
            <a:ext cx="5445251" cy="13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40" b="1" i="0">
                <a:solidFill>
                  <a:srgbClr val="0F1418"/>
                </a:solidFill>
                <a:latin typeface="Arial"/>
              </a:rPr>
              <a:t>Clause-by-clause PS reading: </a:t>
            </a:r>
            <a:r>
              <a:rPr sz="840" b="0" i="0">
                <a:solidFill>
                  <a:srgbClr val="5A6472"/>
                </a:solidFill>
                <a:latin typeface="Arial"/>
              </a:rPr>
              <a:t>all 15 binding clauses (P1–P15) mapped to a design decision, and 5 gaps in the official text logged rather than guessed — including the unpublished judging table and the truncated dataset links.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40" b="1" i="0">
                <a:solidFill>
                  <a:srgbClr val="0F1418"/>
                </a:solidFill>
                <a:latin typeface="Arial"/>
              </a:rPr>
              <a:t>Data verified at source: </a:t>
            </a:r>
            <a:r>
              <a:rPr sz="840" b="0" i="0">
                <a:solidFill>
                  <a:srgbClr val="5A6472"/>
                </a:solidFill>
                <a:latin typeface="Arial"/>
              </a:rPr>
              <a:t>BigEarthNet.txt = 467 MB parquet, 9.55 M rows, CDLA-Permissive-1.0, joined to BE v2.0 imagery (118 GB) and its 282 MB per-pixel reference maps by patch_id.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40" b="1" i="0">
                <a:solidFill>
                  <a:srgbClr val="0F1418"/>
                </a:solidFill>
                <a:latin typeface="Arial"/>
              </a:rPr>
              <a:t>Zero-shot vs adapted table: </a:t>
            </a:r>
            <a:r>
              <a:rPr sz="840" b="0" i="0">
                <a:solidFill>
                  <a:srgbClr val="5A6472"/>
                </a:solidFill>
                <a:latin typeface="Arial"/>
              </a:rPr>
              <a:t>the compliance proof for P12, filled with reproduced training logs before 20 Sep — not with claims.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40" b="1" i="0">
                <a:solidFill>
                  <a:srgbClr val="0F1418"/>
                </a:solidFill>
                <a:latin typeface="Arial"/>
              </a:rPr>
              <a:t>Working thin prototype: </a:t>
            </a:r>
            <a:r>
              <a:rPr sz="840" b="0" i="0">
                <a:solidFill>
                  <a:srgbClr val="5A6472"/>
                </a:solidFill>
                <a:latin typeface="Arial"/>
              </a:rPr>
              <a:t>GDAL ingestion, registry.yaml + GET /tools, guardrail, router, SQLite trace, web UI, report export — 48 pytest tests, CPU-only, offline.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76771" y="1133856"/>
            <a:ext cx="5737859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Rounded Rectangle 17415"/>
          <p:cNvSpPr/>
          <p:nvPr/>
        </p:nvSpPr>
        <p:spPr>
          <a:xfrm>
            <a:off x="6286499" y="1216152"/>
            <a:ext cx="5518403" cy="256032"/>
          </a:xfrm>
          <a:prstGeom prst="roundRect">
            <a:avLst>
              <a:gd name="adj" fmla="val 3214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377939" y="1216152"/>
            <a:ext cx="533552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imes New Roman"/>
              </a:rPr>
              <a:t>DATASETS AND BENCHMARKS NAMED BY THE PS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323075" y="1581912"/>
            <a:ext cx="1481328" cy="127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F497D"/>
                </a:solidFill>
                <a:latin typeface="Arial"/>
              </a:rPr>
              <a:t>BigEarthNet.txt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877555" y="1581912"/>
            <a:ext cx="3890771" cy="38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A6472"/>
                </a:solidFill>
                <a:latin typeface="Arial"/>
              </a:rPr>
              <a:t>primary adaptation data for image-text representations over multisensor imagery · arXiv:2603.29630 · huggingface.co/datasets/BIFOLD-BigEarthNetv2-0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23075" y="2031528"/>
            <a:ext cx="1481328" cy="127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F497D"/>
                </a:solidFill>
                <a:latin typeface="Arial"/>
              </a:rPr>
              <a:t>VRSBench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877555" y="2031528"/>
            <a:ext cx="3890771" cy="257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A6472"/>
                </a:solidFill>
                <a:latin typeface="Arial"/>
              </a:rPr>
              <a:t>single-image captioning, grounding and VQA · NeurIPS 2024 Datasets &amp; Benchmarks · arXiv:2406.12384 · github.com/lx709/VRSBench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23075" y="2352608"/>
            <a:ext cx="1481328" cy="127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F497D"/>
                </a:solidFill>
                <a:latin typeface="Arial"/>
              </a:rPr>
              <a:t>RSVQA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877555" y="2352608"/>
            <a:ext cx="3890771" cy="128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A6472"/>
                </a:solidFill>
                <a:latin typeface="Arial"/>
              </a:rPr>
              <a:t>large-scale single-image VQA · Lobry et al., IEEE TGRS 2020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23075" y="2545152"/>
            <a:ext cx="1481328" cy="127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F497D"/>
                </a:solidFill>
                <a:latin typeface="Arial"/>
              </a:rPr>
              <a:t>CDVQA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877555" y="2545152"/>
            <a:ext cx="3890771" cy="257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A6472"/>
                </a:solidFill>
                <a:latin typeface="Arial"/>
              </a:rPr>
              <a:t>bi-temporal change VQA and semantic change maps · arXiv:2112.06343 · github.com/YZHJessica/CDVQA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23075" y="2866232"/>
            <a:ext cx="1481328" cy="255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F497D"/>
                </a:solidFill>
                <a:latin typeface="Arial"/>
              </a:rPr>
              <a:t>TAMMI · LEVIR-CD · WHU-CD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877555" y="2866232"/>
            <a:ext cx="3890771" cy="257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A6472"/>
                </a:solidFill>
                <a:latin typeface="Arial"/>
              </a:rPr>
              <a:t>VHR RGB + S1 + S2 triplets for cross-modal VQA; change-mask volume · github.com/justchenhao/Levir-CD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74320" y="3255264"/>
            <a:ext cx="5737859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384048" y="3337560"/>
            <a:ext cx="5518403" cy="256032"/>
          </a:xfrm>
          <a:prstGeom prst="roundRect">
            <a:avLst>
              <a:gd name="adj" fmla="val 32142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475488" y="3337560"/>
            <a:ext cx="533552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imes New Roman"/>
              </a:rPr>
              <a:t>EVALUATION PROTOCOL · gates to clear before 20 Sep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20623" y="369417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A6472"/>
                </a:solidFill>
                <a:latin typeface="Arial"/>
              </a:rPr>
              <a:t>MANDATE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975104" y="3694176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A6472"/>
                </a:solidFill>
                <a:latin typeface="Arial"/>
              </a:rPr>
              <a:t>BENCHMARK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200400" y="3694176"/>
            <a:ext cx="26288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A6472"/>
                </a:solidFill>
                <a:latin typeface="Arial"/>
              </a:rPr>
              <a:t>METRICS · gates, normalised per P15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365760" y="3845052"/>
            <a:ext cx="5554979" cy="23774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420623" y="385876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418"/>
                </a:solidFill>
                <a:latin typeface="Arial"/>
              </a:rPr>
              <a:t>Caption / scene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975104" y="3858768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324F"/>
                </a:solidFill>
                <a:latin typeface="Arial"/>
              </a:rPr>
              <a:t>VRSBench test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200400" y="3858768"/>
            <a:ext cx="26288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Arial"/>
              </a:rPr>
              <a:t>CIDEr · BLEU-4 · METEOR · ROUGE-L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20623" y="4076395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418"/>
                </a:solidFill>
                <a:latin typeface="Arial"/>
              </a:rPr>
              <a:t>Text-guided grounding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975104" y="4076395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324F"/>
                </a:solidFill>
                <a:latin typeface="Arial"/>
              </a:rPr>
              <a:t>VRSBench refs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200400" y="4076395"/>
            <a:ext cx="26288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Arial"/>
              </a:rPr>
              <a:t>box IoU ≥ 0.5 · COCO AP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365760" y="4280306"/>
            <a:ext cx="5554979" cy="23774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420623" y="4294022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418"/>
                </a:solidFill>
                <a:latin typeface="Arial"/>
              </a:rPr>
              <a:t>Single-image VQA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975104" y="4294022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324F"/>
                </a:solidFill>
                <a:latin typeface="Arial"/>
              </a:rPr>
              <a:t>RSVQA + VRSBench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200400" y="4294022"/>
            <a:ext cx="26288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Arial"/>
              </a:rPr>
              <a:t>exact match · soft accuracy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20623" y="4511649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418"/>
                </a:solidFill>
                <a:latin typeface="Arial"/>
              </a:rPr>
              <a:t>Change-VQA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1975104" y="4511649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324F"/>
                </a:solidFill>
                <a:latin typeface="Arial"/>
              </a:rPr>
              <a:t>CDVQA test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3200400" y="4511649"/>
            <a:ext cx="26288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Arial"/>
              </a:rPr>
              <a:t>exact match per answer category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365760" y="4715560"/>
            <a:ext cx="5554979" cy="23774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20623" y="4729276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418"/>
                </a:solidFill>
                <a:latin typeface="Arial"/>
              </a:rPr>
              <a:t>Change map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975104" y="4729276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6324F"/>
                </a:solidFill>
                <a:latin typeface="Arial"/>
              </a:rPr>
              <a:t>CDVQA · LEVIR-CD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3200400" y="4729276"/>
            <a:ext cx="26288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Arial"/>
              </a:rPr>
              <a:t>IoU · F1 · mIoU, per class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20623" y="4974335"/>
            <a:ext cx="54452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497D"/>
                </a:solidFill>
                <a:latin typeface="Arial"/>
              </a:rPr>
              <a:t>Latency on a 6 GB laptop: </a:t>
            </a:r>
            <a:r>
              <a:rPr sz="800" b="0" i="0">
                <a:solidFill>
                  <a:srgbClr val="5A6472"/>
                </a:solidFill>
                <a:latin typeface="Arial"/>
              </a:rPr>
              <a:t>single-image 10 s · grounding 8 s · change 20 s · cross-modal 20 s, recorded per step.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176771" y="3255264"/>
            <a:ext cx="5737859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5B2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Rounded Rectangle 17453"/>
          <p:cNvSpPr/>
          <p:nvPr/>
        </p:nvSpPr>
        <p:spPr>
          <a:xfrm>
            <a:off x="6286499" y="3337560"/>
            <a:ext cx="5518403" cy="256032"/>
          </a:xfrm>
          <a:prstGeom prst="roundRect">
            <a:avLst>
              <a:gd name="adj" fmla="val 32142"/>
            </a:avLst>
          </a:prstGeom>
          <a:solidFill>
            <a:srgbClr val="5B2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6377939" y="3337560"/>
            <a:ext cx="533552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imes New Roman"/>
              </a:rPr>
              <a:t>MODELS, METHODS AND OFFICIAL SOURCES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323075" y="3685032"/>
            <a:ext cx="5445251" cy="12960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4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Qwen2-VL-2B </a:t>
            </a:r>
            <a:r>
              <a:rPr sz="830" b="0" i="0">
                <a:solidFill>
                  <a:srgbClr val="5A6472"/>
                </a:solidFill>
                <a:latin typeface="Arial"/>
              </a:rPr>
              <a:t>(arXiv:2409.12191) — native multi-image VLM backbone; adapted with QLoRA (arXiv:2305.14314) on 4-bit.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4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Grounding DINO </a:t>
            </a:r>
            <a:r>
              <a:rPr sz="830" b="0" i="0">
                <a:solidFill>
                  <a:srgbClr val="5A6472"/>
                </a:solidFill>
                <a:latin typeface="Arial"/>
              </a:rPr>
              <a:t>(arXiv:2303.05499) — text-to-box base for the mandatory grounding task (P3).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4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BiT and UNet++ </a:t>
            </a:r>
            <a:r>
              <a:rPr sz="830" b="0" i="0">
                <a:solidFill>
                  <a:srgbClr val="5A6472"/>
                </a:solidFill>
                <a:latin typeface="Arial"/>
              </a:rPr>
              <a:t>(arXiv:1807.10165) — change and land-cover heads, initialised from BigEarthNet v2.0 S1 / S2 / S1+S2 checkpoints.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4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GDAL / rasterio · COG tiling </a:t>
            </a:r>
            <a:r>
              <a:rPr sz="830" b="0" i="0">
                <a:solidFill>
                  <a:srgbClr val="5A6472"/>
                </a:solidFill>
                <a:latin typeface="Arial"/>
              </a:rPr>
              <a:t>— geospatial correctness: CRS, band order, co-registration offset, 512 px windows.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F1418"/>
                </a:solidFill>
                <a:latin typeface="Arial"/>
              </a:rPr>
              <a:t>•  </a:t>
            </a:r>
            <a:r>
              <a:rPr sz="830" b="1" i="0">
                <a:solidFill>
                  <a:srgbClr val="0F1418"/>
                </a:solidFill>
                <a:latin typeface="Arial"/>
              </a:rPr>
              <a:t>Official sources </a:t>
            </a:r>
            <a:r>
              <a:rPr sz="830" b="0" i="0">
                <a:solidFill>
                  <a:srgbClr val="5A6472"/>
                </a:solidFill>
                <a:latin typeface="Arial"/>
              </a:rPr>
              <a:t>— sih.gov.in (PS 26167, ISRO, and the idea-PPT format) · isro.gov.in and the SAC evaluation-set note (P14) · BigEarthNet v2.0, Zenodo record 10891137.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274320" y="5376672"/>
            <a:ext cx="11640311" cy="256032"/>
          </a:xfrm>
          <a:prstGeom prst="roundRect">
            <a:avLst>
              <a:gd name="adj" fmla="val 32142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365760" y="5376672"/>
            <a:ext cx="114574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imes New Roman"/>
              </a:rPr>
              <a:t>MANDATE COVERAGE · every mandatory clause in PS 26167 and where it is handled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274320" y="5724144"/>
            <a:ext cx="1863851" cy="566927"/>
          </a:xfrm>
          <a:prstGeom prst="roundRect">
            <a:avLst>
              <a:gd name="adj" fmla="val 8064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356616" y="5769864"/>
            <a:ext cx="158953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E7A43"/>
                </a:solidFill>
                <a:latin typeface="Arial"/>
              </a:rPr>
              <a:t>Single-image VQA</a:t>
            </a:r>
          </a:p>
        </p:txBody>
      </p:sp>
      <p:sp>
        <p:nvSpPr>
          <p:cNvPr id="17461" name="Oval 17460"/>
          <p:cNvSpPr/>
          <p:nvPr/>
        </p:nvSpPr>
        <p:spPr>
          <a:xfrm>
            <a:off x="1918715" y="5774436"/>
            <a:ext cx="173736" cy="17373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1914143" y="5765292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356616" y="5971032"/>
            <a:ext cx="1699259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mandatory baseline · M1 on RSVQA/VRSBench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2229611" y="5724144"/>
            <a:ext cx="1863851" cy="566927"/>
          </a:xfrm>
          <a:prstGeom prst="roundRect">
            <a:avLst>
              <a:gd name="adj" fmla="val 8064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2311907" y="5769864"/>
            <a:ext cx="158953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E7A43"/>
                </a:solidFill>
                <a:latin typeface="Arial"/>
              </a:rPr>
              <a:t>Caption + grounding</a:t>
            </a:r>
          </a:p>
        </p:txBody>
      </p:sp>
      <p:sp>
        <p:nvSpPr>
          <p:cNvPr id="17466" name="Oval 17465"/>
          <p:cNvSpPr/>
          <p:nvPr/>
        </p:nvSpPr>
        <p:spPr>
          <a:xfrm>
            <a:off x="3874007" y="5774436"/>
            <a:ext cx="173736" cy="17373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3869436" y="5765292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2311907" y="5971032"/>
            <a:ext cx="1699259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both shipped · M1 caption + M3 boxes (P3)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4184903" y="5724144"/>
            <a:ext cx="1863851" cy="566927"/>
          </a:xfrm>
          <a:prstGeom prst="roundRect">
            <a:avLst>
              <a:gd name="adj" fmla="val 8064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4267199" y="5769864"/>
            <a:ext cx="158953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E7A43"/>
                </a:solidFill>
                <a:latin typeface="Arial"/>
              </a:rPr>
              <a:t>Change + change-VQA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5829299" y="5774436"/>
            <a:ext cx="173736" cy="17373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2" name="TextBox 17471"/>
          <p:cNvSpPr txBox="1"/>
          <p:nvPr/>
        </p:nvSpPr>
        <p:spPr>
          <a:xfrm>
            <a:off x="5824727" y="5765292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4267199" y="5971032"/>
            <a:ext cx="1699259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M4 map + M1 two-image on CDVQA (P4)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6140195" y="5724144"/>
            <a:ext cx="1863851" cy="566927"/>
          </a:xfrm>
          <a:prstGeom prst="roundRect">
            <a:avLst>
              <a:gd name="adj" fmla="val 8064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6222491" y="5769864"/>
            <a:ext cx="158953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E7A43"/>
                </a:solidFill>
                <a:latin typeface="Arial"/>
              </a:rPr>
              <a:t>Optical + SAR jointly</a:t>
            </a:r>
          </a:p>
        </p:txBody>
      </p:sp>
      <p:sp>
        <p:nvSpPr>
          <p:cNvPr id="17476" name="Oval 17475"/>
          <p:cNvSpPr/>
          <p:nvPr/>
        </p:nvSpPr>
        <p:spPr>
          <a:xfrm>
            <a:off x="7784591" y="5774436"/>
            <a:ext cx="173736" cy="17373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7780020" y="5765292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6222491" y="5971032"/>
            <a:ext cx="1699259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2-image mode + S1/S2/fused ablation (P5)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8095488" y="5724144"/>
            <a:ext cx="1863851" cy="566927"/>
          </a:xfrm>
          <a:prstGeom prst="roundRect">
            <a:avLst>
              <a:gd name="adj" fmla="val 8064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0" name="TextBox 17479"/>
          <p:cNvSpPr txBox="1"/>
          <p:nvPr/>
        </p:nvSpPr>
        <p:spPr>
          <a:xfrm>
            <a:off x="8177784" y="5769864"/>
            <a:ext cx="158953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E7A43"/>
                </a:solidFill>
                <a:latin typeface="Arial"/>
              </a:rPr>
              <a:t>Registry + parameters</a:t>
            </a:r>
          </a:p>
        </p:txBody>
      </p:sp>
      <p:sp>
        <p:nvSpPr>
          <p:cNvPr id="17481" name="Oval 17480"/>
          <p:cNvSpPr/>
          <p:nvPr/>
        </p:nvSpPr>
        <p:spPr>
          <a:xfrm>
            <a:off x="9739883" y="5774436"/>
            <a:ext cx="173736" cy="17373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TextBox 17481"/>
          <p:cNvSpPr txBox="1"/>
          <p:nvPr/>
        </p:nvSpPr>
        <p:spPr>
          <a:xfrm>
            <a:off x="9735312" y="5765292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8177784" y="5971032"/>
            <a:ext cx="1699259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registry.yaml + guardrail whitelist (P7–P8)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10050780" y="5724144"/>
            <a:ext cx="1863851" cy="566927"/>
          </a:xfrm>
          <a:prstGeom prst="roundRect">
            <a:avLst>
              <a:gd name="adj" fmla="val 8064"/>
            </a:avLst>
          </a:prstGeom>
          <a:solidFill>
            <a:srgbClr val="EAF7EF"/>
          </a:solidFill>
          <a:ln w="889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5" name="TextBox 17484"/>
          <p:cNvSpPr txBox="1"/>
          <p:nvPr/>
        </p:nvSpPr>
        <p:spPr>
          <a:xfrm>
            <a:off x="10133076" y="5769864"/>
            <a:ext cx="158953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1E7A43"/>
                </a:solidFill>
                <a:latin typeface="Arial"/>
              </a:rPr>
              <a:t>Auditable trace</a:t>
            </a:r>
          </a:p>
        </p:txBody>
      </p:sp>
      <p:sp>
        <p:nvSpPr>
          <p:cNvPr id="17486" name="Oval 17485"/>
          <p:cNvSpPr/>
          <p:nvPr/>
        </p:nvSpPr>
        <p:spPr>
          <a:xfrm>
            <a:off x="11695176" y="5774436"/>
            <a:ext cx="173736" cy="17373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7" name="TextBox 17486"/>
          <p:cNvSpPr txBox="1"/>
          <p:nvPr/>
        </p:nvSpPr>
        <p:spPr>
          <a:xfrm>
            <a:off x="11690604" y="5765292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10133076" y="5971032"/>
            <a:ext cx="1699259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A6472"/>
                </a:solidFill>
                <a:latin typeface="Arial"/>
              </a:rPr>
              <a:t>trace.json + PDF report, per step (P9)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