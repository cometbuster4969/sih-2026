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sz="1700" b="0" i="1">
                <a:solidFill>
                  <a:srgbClr val="58606A"/>
                </a:solidFill>
                <a:latin typeface="Times New Roman"/>
              </a:rPr>
              <a:t>SatQuery AI — ask your satellite in plain language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sz="4000" b="1">
                <a:solidFill>
                  <a:srgbClr val="1F497D"/>
                </a:solidFill>
                <a:latin typeface="Garamond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6035040" cy="4526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 b="1">
                <a:solidFill>
                  <a:srgbClr val="101418"/>
                </a:solidFill>
                <a:latin typeface="Arial"/>
              </a:rPr>
              <a:t>Problem Statement ID </a:t>
            </a:r>
            <a:r>
              <a:rPr sz="1800">
                <a:solidFill>
                  <a:srgbClr val="101418"/>
                </a:solidFill>
                <a:latin typeface="Arial"/>
              </a:rPr>
              <a:t>–  26167</a:t>
            </a:r>
            <a:endParaRPr lang="en-US" dirty="0"/>
          </a:p>
          <a:p>
            <a:r>
              <a:rPr sz="1800" b="1">
                <a:solidFill>
                  <a:srgbClr val="101418"/>
                </a:solidFill>
                <a:latin typeface="Arial"/>
              </a:rPr>
              <a:t>Problem Statement Title </a:t>
            </a:r>
            <a:r>
              <a:rPr sz="1800">
                <a:solidFill>
                  <a:srgbClr val="101418"/>
                </a:solidFill>
                <a:latin typeface="Arial"/>
              </a:rPr>
              <a:t>–  SatQuery AI: An Interactive Vision-Language</a:t>
            </a:r>
          </a:p>
          <a:p>
            <a:r>
              <a:rPr sz="1800">
                <a:solidFill>
                  <a:srgbClr val="101418"/>
                </a:solidFill>
                <a:latin typeface="Arial"/>
              </a:rPr>
              <a:t>Assistant for Multimodal Remote Sensing Image Analysis through Text Queries</a:t>
            </a:r>
          </a:p>
          <a:p>
            <a:r>
              <a:rPr sz="1800" b="1">
                <a:solidFill>
                  <a:srgbClr val="101418"/>
                </a:solidFill>
                <a:latin typeface="Arial"/>
              </a:rPr>
              <a:t>Theme </a:t>
            </a:r>
            <a:r>
              <a:rPr sz="1800">
                <a:solidFill>
                  <a:srgbClr val="101418"/>
                </a:solidFill>
                <a:latin typeface="Arial"/>
              </a:rPr>
              <a:t>–  Space Technology</a:t>
            </a:r>
          </a:p>
          <a:p>
            <a:r>
              <a:rPr sz="1800" b="1">
                <a:solidFill>
                  <a:srgbClr val="101418"/>
                </a:solidFill>
                <a:latin typeface="Arial"/>
              </a:rPr>
              <a:t>PS Category </a:t>
            </a:r>
            <a:r>
              <a:rPr sz="1800">
                <a:solidFill>
                  <a:srgbClr val="101418"/>
                </a:solidFill>
                <a:latin typeface="Arial"/>
              </a:rPr>
              <a:t>–  Software</a:t>
            </a:r>
          </a:p>
          <a:p>
            <a:r>
              <a:rPr sz="1800" b="1">
                <a:solidFill>
                  <a:srgbClr val="101418"/>
                </a:solidFill>
                <a:latin typeface="Arial"/>
              </a:rPr>
              <a:t>Team ID </a:t>
            </a:r>
            <a:r>
              <a:rPr sz="1800">
                <a:solidFill>
                  <a:srgbClr val="58606A"/>
                </a:solidFill>
                <a:latin typeface="Arial"/>
              </a:rPr>
              <a:t>–  [ to be filled ]</a:t>
            </a:r>
          </a:p>
          <a:p>
            <a:r>
              <a:rPr sz="1800" b="1">
                <a:solidFill>
                  <a:srgbClr val="101418"/>
                </a:solidFill>
                <a:latin typeface="Arial"/>
              </a:rPr>
              <a:t>Team Name </a:t>
            </a:r>
            <a:r>
              <a:rPr sz="1800">
                <a:solidFill>
                  <a:srgbClr val="101418"/>
                </a:solidFill>
                <a:latin typeface="Arial"/>
              </a:rPr>
              <a:t>–  x64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595360" cy="777240"/>
          </a:xfrm>
        </p:spPr>
        <p:txBody>
          <a:bodyPr/>
          <a:lstStyle/>
          <a:p>
            <a:pPr eaLnBrk="1" hangingPunct="1" algn="ctr"/>
            <a:r>
              <a:rPr sz="3000" b="1">
                <a:solidFill>
                  <a:srgbClr val="101418"/>
                </a:solidFill>
                <a:latin typeface="Times New Roman"/>
              </a:rPr>
              <a:t>SATQUERY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030A0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74320" y="1371600"/>
            <a:ext cx="5074920" cy="457200"/>
          </a:xfrm>
          <a:prstGeom prst="roundRect">
            <a:avLst>
              <a:gd name="adj" fmla="val 1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3" name="TextBox 15362"/>
          <p:cNvSpPr txBox="1"/>
          <p:nvPr/>
        </p:nvSpPr>
        <p:spPr>
          <a:xfrm>
            <a:off x="274320" y="1371600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Proposed Solution / Approach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74320" y="1883664"/>
            <a:ext cx="5074920" cy="4379976"/>
          </a:xfrm>
          <a:prstGeom prst="roundRect">
            <a:avLst>
              <a:gd name="adj" fmla="val 1252"/>
            </a:avLst>
          </a:prstGeom>
          <a:solidFill>
            <a:srgbClr val="EAF3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5" name="TextBox 15364"/>
          <p:cNvSpPr txBox="1"/>
          <p:nvPr/>
        </p:nvSpPr>
        <p:spPr>
          <a:xfrm>
            <a:off x="475488" y="2029968"/>
            <a:ext cx="468172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Agentic by design: </a:t>
            </a:r>
            <a:r>
              <a:rPr sz="1150" b="0" i="0">
                <a:solidFill>
                  <a:srgbClr val="101418"/>
                </a:solidFill>
                <a:latin typeface="Arial"/>
              </a:rPr>
              <a:t>a natural-language query is planned into a sequence of specialist tools drawn from a predefined registry (PS P6–P8) — not one monolithic VLM.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Guardrailed execution: </a:t>
            </a:r>
            <a:r>
              <a:rPr sz="1150" b="0" i="0">
                <a:solidFill>
                  <a:srgbClr val="101418"/>
                </a:solidFill>
                <a:latin typeface="Arial"/>
              </a:rPr>
              <a:t>schema + parameter whitelist and a deterministic fallback router; incompatible inputs return a compatibility report — never a crash.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Auditable trace (the graded surface): </a:t>
            </a:r>
            <a:r>
              <a:rPr sz="1150" b="0" i="0">
                <a:solidFill>
                  <a:srgbClr val="101418"/>
                </a:solidFill>
                <a:latin typeface="Arial"/>
              </a:rPr>
              <a:t>every run logs task, tools + versions, parameters, input hashes, latency and confidence (P9–P10).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Evidence, not vibes: </a:t>
            </a:r>
            <a:r>
              <a:rPr sz="1150" b="0" i="0">
                <a:solidFill>
                  <a:srgbClr val="101418"/>
                </a:solidFill>
                <a:latin typeface="Arial"/>
              </a:rPr>
              <a:t>answers ship with change masks, grounding boxes and caption overlays, plus calibrated High/Med/Low badges and an optical↔SAR disagreement flag.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1F497D"/>
                </a:solidFill>
                <a:latin typeface="Arial"/>
              </a:rPr>
              <a:t>One-click audit report: </a:t>
            </a:r>
            <a:r>
              <a:rPr sz="1150" b="0" i="0">
                <a:solidFill>
                  <a:srgbClr val="101418"/>
                </a:solidFill>
                <a:latin typeface="Arial"/>
              </a:rPr>
              <a:t>downloadable PDF/HTML report per query — trace + evidence + confidence, ready for evaluation.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1">
                <a:solidFill>
                  <a:srgbClr val="E87722"/>
                </a:solidFill>
                <a:latin typeface="Arial"/>
              </a:rPr>
              <a:t>How it addresses the problem: </a:t>
            </a:r>
            <a:r>
              <a:rPr sz="1050" b="0" i="1">
                <a:solidFill>
                  <a:srgbClr val="58606A"/>
                </a:solidFill>
                <a:latin typeface="Arial"/>
              </a:rPr>
              <a:t>turns expert GIS pipelines into a query box, and makes every answer checkable — the trust gap the PS itself names.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F497D"/>
                </a:solidFill>
                <a:latin typeface="Arial"/>
              </a:rPr>
              <a:t>Representative PS queries we demo (verbatim):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1">
                <a:solidFill>
                  <a:srgbClr val="58606A"/>
                </a:solidFill>
                <a:latin typeface="Arial"/>
              </a:rPr>
              <a:t>1  “Describe the land-cover and major objects visible in this image.”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1">
                <a:solidFill>
                  <a:srgbClr val="58606A"/>
                </a:solidFill>
                <a:latin typeface="Arial"/>
              </a:rPr>
              <a:t>2  “Highlight the water body referred to in the query.”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1">
                <a:solidFill>
                  <a:srgbClr val="58606A"/>
                </a:solidFill>
                <a:latin typeface="Arial"/>
              </a:rPr>
              <a:t>3  “What changed between these two dates, and where did the change occur?”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40" b="0" i="1">
                <a:solidFill>
                  <a:srgbClr val="58606A"/>
                </a:solidFill>
                <a:latin typeface="Arial"/>
              </a:rPr>
              <a:t>4  “Use the optical and SAR images together to identify built-up and water-covered regions.”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1">
                <a:solidFill>
                  <a:srgbClr val="58606A"/>
                </a:solidFill>
                <a:latin typeface="Arial"/>
              </a:rPr>
              <a:t>5  “Has the built-up area increased, decreased, or remained unchanged?”</a:t>
            </a:r>
          </a:p>
        </p:txBody>
      </p:sp>
      <p:pic>
        <p:nvPicPr>
          <p:cNvPr id="15366" name="Picture 15365" descr="fig_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88" y="1261872"/>
            <a:ext cx="6419088" cy="2103120"/>
          </a:xfrm>
          <a:prstGeom prst="rect">
            <a:avLst/>
          </a:prstGeom>
        </p:spPr>
      </p:pic>
      <p:pic>
        <p:nvPicPr>
          <p:cNvPr id="15367" name="Picture 15366" descr="overlay_ch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602736"/>
            <a:ext cx="1024128" cy="1024128"/>
          </a:xfrm>
          <a:prstGeom prst="rect">
            <a:avLst/>
          </a:prstGeom>
        </p:spPr>
      </p:pic>
      <p:sp>
        <p:nvSpPr>
          <p:cNvPr id="15368" name="Rectangle 15367"/>
          <p:cNvSpPr/>
          <p:nvPr/>
        </p:nvSpPr>
        <p:spPr>
          <a:xfrm>
            <a:off x="5989320" y="3602736"/>
            <a:ext cx="1024128" cy="1024128"/>
          </a:xfrm>
          <a:prstGeom prst="rect">
            <a:avLst/>
          </a:prstGeom>
          <a:noFill/>
          <a:ln w="10160">
            <a:solidFill>
              <a:srgbClr val="58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9" name="TextBox 15368"/>
          <p:cNvSpPr txBox="1"/>
          <p:nvPr/>
        </p:nvSpPr>
        <p:spPr>
          <a:xfrm>
            <a:off x="5760720" y="46451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8606A"/>
                </a:solidFill>
                <a:latin typeface="Arial"/>
              </a:rPr>
              <a:t>change mask</a:t>
            </a:r>
          </a:p>
        </p:txBody>
      </p:sp>
      <p:pic>
        <p:nvPicPr>
          <p:cNvPr id="15370" name="Picture 15369" descr="overlay_g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3602736"/>
            <a:ext cx="1024128" cy="1024128"/>
          </a:xfrm>
          <a:prstGeom prst="rect">
            <a:avLst/>
          </a:prstGeom>
        </p:spPr>
      </p:pic>
      <p:sp>
        <p:nvSpPr>
          <p:cNvPr id="15371" name="Rectangle 15370"/>
          <p:cNvSpPr/>
          <p:nvPr/>
        </p:nvSpPr>
        <p:spPr>
          <a:xfrm>
            <a:off x="7863840" y="3602736"/>
            <a:ext cx="1024128" cy="1024128"/>
          </a:xfrm>
          <a:prstGeom prst="rect">
            <a:avLst/>
          </a:prstGeom>
          <a:noFill/>
          <a:ln w="10160">
            <a:solidFill>
              <a:srgbClr val="58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2" name="TextBox 15371"/>
          <p:cNvSpPr txBox="1"/>
          <p:nvPr/>
        </p:nvSpPr>
        <p:spPr>
          <a:xfrm>
            <a:off x="7635240" y="46451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8606A"/>
                </a:solidFill>
                <a:latin typeface="Arial"/>
              </a:rPr>
              <a:t>grounding boxes</a:t>
            </a:r>
          </a:p>
        </p:txBody>
      </p:sp>
      <p:pic>
        <p:nvPicPr>
          <p:cNvPr id="15373" name="Picture 15372" descr="overlay_cap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359" y="3602736"/>
            <a:ext cx="1024128" cy="1024128"/>
          </a:xfrm>
          <a:prstGeom prst="rect">
            <a:avLst/>
          </a:prstGeom>
        </p:spPr>
      </p:pic>
      <p:sp>
        <p:nvSpPr>
          <p:cNvPr id="15374" name="Rectangle 15373"/>
          <p:cNvSpPr/>
          <p:nvPr/>
        </p:nvSpPr>
        <p:spPr>
          <a:xfrm>
            <a:off x="9738359" y="3602736"/>
            <a:ext cx="1024128" cy="1024128"/>
          </a:xfrm>
          <a:prstGeom prst="rect">
            <a:avLst/>
          </a:prstGeom>
          <a:noFill/>
          <a:ln w="10160">
            <a:solidFill>
              <a:srgbClr val="58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5" name="TextBox 15374"/>
          <p:cNvSpPr txBox="1"/>
          <p:nvPr/>
        </p:nvSpPr>
        <p:spPr>
          <a:xfrm>
            <a:off x="9509759" y="4645152"/>
            <a:ext cx="14813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8606A"/>
                </a:solidFill>
                <a:latin typeface="Arial"/>
              </a:rPr>
              <a:t>caption overlay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5504688" y="3383280"/>
            <a:ext cx="6419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F497D"/>
                </a:solidFill>
                <a:latin typeface="Arial"/>
              </a:rPr>
              <a:t>REAL PROTOTYPE OUTPUTS — thin end-to-end build (Window A)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675120" y="4864608"/>
            <a:ext cx="4023360" cy="2560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8" name="TextBox 15377"/>
          <p:cNvSpPr txBox="1"/>
          <p:nvPr/>
        </p:nvSpPr>
        <p:spPr>
          <a:xfrm>
            <a:off x="6675120" y="4864608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imes New Roman"/>
              </a:rPr>
              <a:t>Innovation &amp; Uniqueness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5504688" y="5138928"/>
            <a:ext cx="1248156" cy="1115568"/>
          </a:xfrm>
          <a:prstGeom prst="roundRect">
            <a:avLst>
              <a:gd name="adj" fmla="val 5737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0" name="TextBox 15379"/>
          <p:cNvSpPr txBox="1"/>
          <p:nvPr/>
        </p:nvSpPr>
        <p:spPr>
          <a:xfrm>
            <a:off x="5550407" y="5202936"/>
            <a:ext cx="11567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Trace as a product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Arial"/>
              </a:rPr>
              <a:t>the graded surface is a first-class UI + JSON artifact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6798564" y="5138928"/>
            <a:ext cx="1248156" cy="1115568"/>
          </a:xfrm>
          <a:prstGeom prst="roundRect">
            <a:avLst>
              <a:gd name="adj" fmla="val 5737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2" name="TextBox 15381"/>
          <p:cNvSpPr txBox="1"/>
          <p:nvPr/>
        </p:nvSpPr>
        <p:spPr>
          <a:xfrm>
            <a:off x="6844283" y="5202936"/>
            <a:ext cx="11567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Registry + guardrails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Arial"/>
              </a:rPr>
              <a:t>tools declared, params whitelisted, routing deterministic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8092440" y="5138928"/>
            <a:ext cx="1248156" cy="1115568"/>
          </a:xfrm>
          <a:prstGeom prst="roundRect">
            <a:avLst>
              <a:gd name="adj" fmla="val 5737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4" name="TextBox 15383"/>
          <p:cNvSpPr txBox="1"/>
          <p:nvPr/>
        </p:nvSpPr>
        <p:spPr>
          <a:xfrm>
            <a:off x="8138160" y="5202936"/>
            <a:ext cx="11567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Optical × SAR joint reasoning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Arial"/>
              </a:rPr>
              <a:t>optical gives spectra &amp; context; SAR sees through cloud, day &amp; night — paired focus (P1, P5)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9386316" y="5138928"/>
            <a:ext cx="1248156" cy="1115568"/>
          </a:xfrm>
          <a:prstGeom prst="roundRect">
            <a:avLst>
              <a:gd name="adj" fmla="val 5737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6" name="TextBox 15385"/>
          <p:cNvSpPr txBox="1"/>
          <p:nvPr/>
        </p:nvSpPr>
        <p:spPr>
          <a:xfrm>
            <a:off x="9432036" y="5202936"/>
            <a:ext cx="11567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RS-adapted, never generic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Arial"/>
              </a:rPr>
              <a:t>QLoRA on BigEarthNet.txt — generic VLMs explicitly insufficient (P12)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10680192" y="5138928"/>
            <a:ext cx="1248156" cy="1115568"/>
          </a:xfrm>
          <a:prstGeom prst="roundRect">
            <a:avLst>
              <a:gd name="adj" fmla="val 5737"/>
            </a:avLst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88" name="TextBox 15387"/>
          <p:cNvSpPr txBox="1"/>
          <p:nvPr/>
        </p:nvSpPr>
        <p:spPr>
          <a:xfrm>
            <a:off x="10725912" y="5202936"/>
            <a:ext cx="115671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i="0">
                <a:solidFill>
                  <a:srgbClr val="FFFFFF"/>
                </a:solidFill>
                <a:latin typeface="Arial"/>
              </a:rPr>
              <a:t>Honest confidence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Arial"/>
              </a:rPr>
              <a:t>calibrated badges, disagreement flags, reasoned abstention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1737360" y="93268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58606A"/>
                </a:solidFill>
                <a:latin typeface="Arial"/>
              </a:rPr>
              <a:t>Proposed solution (idea / solution / prototype) · how it addresses the problem · innovation &amp; uniqueness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595360" cy="777240"/>
          </a:xfrm>
        </p:spPr>
        <p:txBody>
          <a:bodyPr/>
          <a:lstStyle/>
          <a:p>
            <a:pPr eaLnBrk="1" hangingPunct="1" algn="ctr"/>
            <a:r>
              <a:rPr sz="3000" b="1">
                <a:solidFill>
                  <a:srgbClr val="101418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030A0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fig_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298448"/>
            <a:ext cx="8796528" cy="4187952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9189720" y="129844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3025"/>
                </a:solidFill>
                <a:latin typeface="Times New Roman"/>
              </a:rPr>
              <a:t>Implementation Process</a:t>
            </a:r>
          </a:p>
        </p:txBody>
      </p:sp>
      <p:sp>
        <p:nvSpPr>
          <p:cNvPr id="17412" name="Oval 17411"/>
          <p:cNvSpPr/>
          <p:nvPr/>
        </p:nvSpPr>
        <p:spPr>
          <a:xfrm>
            <a:off x="9235440" y="1700784"/>
            <a:ext cx="310896" cy="31089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9235440" y="170078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9646920" y="1655064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Ingest &amp; validate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8606A"/>
                </a:solidFill>
                <a:latin typeface="Arial"/>
              </a:rPr>
              <a:t>format · CRS · modality · co-registration · 512/64 tiling (GDAL)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9390888" y="2029968"/>
            <a:ext cx="0" cy="329184"/>
          </a:xfrm>
          <a:prstGeom prst="line">
            <a:avLst/>
          </a:prstGeom>
          <a:ln w="1778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Oval 17415"/>
          <p:cNvSpPr/>
          <p:nvPr/>
        </p:nvSpPr>
        <p:spPr>
          <a:xfrm>
            <a:off x="9235440" y="2359152"/>
            <a:ext cx="310896" cy="310896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9235440" y="23591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9646920" y="2313432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Plan &amp; guard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8606A"/>
                </a:solidFill>
                <a:latin typeface="Arial"/>
              </a:rPr>
              <a:t>task id, tool selection from registry, parameter whitelist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9390888" y="2688336"/>
            <a:ext cx="0" cy="329184"/>
          </a:xfrm>
          <a:prstGeom prst="line">
            <a:avLst/>
          </a:prstGeom>
          <a:ln w="1778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Oval 17419"/>
          <p:cNvSpPr/>
          <p:nvPr/>
        </p:nvSpPr>
        <p:spPr>
          <a:xfrm>
            <a:off x="9235440" y="3017520"/>
            <a:ext cx="310896" cy="31089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9235440" y="301752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646920" y="2971800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Execute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8606A"/>
                </a:solidFill>
                <a:latin typeface="Arial"/>
              </a:rPr>
              <a:t>specialists run per tile; every call writes to the trace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9390888" y="3346703"/>
            <a:ext cx="0" cy="329184"/>
          </a:xfrm>
          <a:prstGeom prst="line">
            <a:avLst/>
          </a:prstGeom>
          <a:ln w="17780">
            <a:solidFill>
              <a:srgbClr val="2E9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Oval 17423"/>
          <p:cNvSpPr/>
          <p:nvPr/>
        </p:nvSpPr>
        <p:spPr>
          <a:xfrm>
            <a:off x="9235440" y="3675887"/>
            <a:ext cx="310896" cy="310896"/>
          </a:xfrm>
          <a:prstGeom prst="ellipse">
            <a:avLst/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9235440" y="3675887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646920" y="3630168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Fuse &amp; calibrate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8606A"/>
                </a:solidFill>
                <a:latin typeface="Arial"/>
              </a:rPr>
              <a:t>weighted geometric mean, High/Med/Low badges, disagreement rule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9390888" y="4005072"/>
            <a:ext cx="0" cy="329183"/>
          </a:xfrm>
          <a:prstGeom prst="line">
            <a:avLst/>
          </a:prstGeom>
          <a:ln w="17780">
            <a:solidFill>
              <a:srgbClr val="12B5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Oval 17427"/>
          <p:cNvSpPr/>
          <p:nvPr/>
        </p:nvSpPr>
        <p:spPr>
          <a:xfrm>
            <a:off x="9235440" y="4334255"/>
            <a:ext cx="310896" cy="310896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9235440" y="4334255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646920" y="4288536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Visualise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8606A"/>
                </a:solidFill>
                <a:latin typeface="Arial"/>
              </a:rPr>
              <a:t>change mask / boxes / caption streamed over the scene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9390888" y="4663440"/>
            <a:ext cx="0" cy="329183"/>
          </a:xfrm>
          <a:prstGeom prst="line">
            <a:avLst/>
          </a:prstGeom>
          <a:ln w="17780">
            <a:solidFill>
              <a:srgbClr val="E877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Oval 17431"/>
          <p:cNvSpPr/>
          <p:nvPr/>
        </p:nvSpPr>
        <p:spPr>
          <a:xfrm>
            <a:off x="9235440" y="4992623"/>
            <a:ext cx="310896" cy="310896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9235440" y="4992623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9646920" y="4946903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Report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58606A"/>
                </a:solidFill>
                <a:latin typeface="Arial"/>
              </a:rPr>
              <a:t>PDF/HTML audit pack + trace.json download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256032" y="5687568"/>
            <a:ext cx="11676888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5860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6" name="TextBox 17435"/>
          <p:cNvSpPr txBox="1"/>
          <p:nvPr/>
        </p:nvSpPr>
        <p:spPr>
          <a:xfrm>
            <a:off x="384048" y="568756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97D"/>
                </a:solidFill>
                <a:latin typeface="Times New Roman"/>
              </a:rPr>
              <a:t>Technology stack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497D"/>
                </a:solidFill>
                <a:latin typeface="Times New Roman"/>
              </a:rPr>
              <a:t>to be used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240280" y="5806440"/>
            <a:ext cx="751636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2240280" y="5806440"/>
            <a:ext cx="7516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Python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083356" y="5806440"/>
            <a:ext cx="808329" cy="310896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3083356" y="5806440"/>
            <a:ext cx="8083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FastAPI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3983126" y="5806440"/>
            <a:ext cx="921715" cy="310896"/>
          </a:xfrm>
          <a:prstGeom prst="roundRect">
            <a:avLst>
              <a:gd name="adj" fmla="val 50000"/>
            </a:avLst>
          </a:prstGeom>
          <a:solidFill>
            <a:srgbClr val="12B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2" name="TextBox 17441"/>
          <p:cNvSpPr txBox="1"/>
          <p:nvPr/>
        </p:nvSpPr>
        <p:spPr>
          <a:xfrm>
            <a:off x="3983126" y="5806440"/>
            <a:ext cx="92171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Streamlit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996281" y="5806440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4" name="TextBox 17443"/>
          <p:cNvSpPr txBox="1"/>
          <p:nvPr/>
        </p:nvSpPr>
        <p:spPr>
          <a:xfrm>
            <a:off x="4996281" y="5806440"/>
            <a:ext cx="12618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GDAL / rasterio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349593" y="5806440"/>
            <a:ext cx="808329" cy="310896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6349593" y="5806440"/>
            <a:ext cx="80832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PyTorch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7249363" y="5806440"/>
            <a:ext cx="1318564" cy="31089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8" name="TextBox 17447"/>
          <p:cNvSpPr txBox="1"/>
          <p:nvPr/>
        </p:nvSpPr>
        <p:spPr>
          <a:xfrm>
            <a:off x="7249363" y="5806440"/>
            <a:ext cx="13185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Qwen2-VL (QLoRA)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659368" y="5806440"/>
            <a:ext cx="1205179" cy="310896"/>
          </a:xfrm>
          <a:prstGeom prst="roundRect">
            <a:avLst>
              <a:gd name="adj" fmla="val 50000"/>
            </a:avLst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0" name="TextBox 17449"/>
          <p:cNvSpPr txBox="1"/>
          <p:nvPr/>
        </p:nvSpPr>
        <p:spPr>
          <a:xfrm>
            <a:off x="8659368" y="5806440"/>
            <a:ext cx="120517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Grounding DINO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9955987" y="5806440"/>
            <a:ext cx="1091793" cy="310896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2" name="TextBox 17451"/>
          <p:cNvSpPr txBox="1"/>
          <p:nvPr/>
        </p:nvSpPr>
        <p:spPr>
          <a:xfrm>
            <a:off x="9955987" y="5806440"/>
            <a:ext cx="109179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UNet++ / BiT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11139220" y="5806440"/>
            <a:ext cx="751636" cy="31089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11139220" y="5806440"/>
            <a:ext cx="7516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FFFFF"/>
                </a:solidFill>
                <a:latin typeface="Arial"/>
              </a:rPr>
              <a:t>Docker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1737360" y="93268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58606A"/>
                </a:solidFill>
                <a:latin typeface="Arial"/>
              </a:rPr>
              <a:t>Technologies to be used · methodology &amp; process for implementation (flow charts / images / working prototype)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595360" cy="777240"/>
          </a:xfrm>
        </p:spPr>
        <p:txBody>
          <a:bodyPr/>
          <a:lstStyle/>
          <a:p>
            <a:pPr eaLnBrk="1" hangingPunct="1" algn="ctr"/>
            <a:r>
              <a:rPr sz="3000" b="1">
                <a:solidFill>
                  <a:srgbClr val="101418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030A0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1298448"/>
            <a:ext cx="3749039" cy="1847088"/>
          </a:xfrm>
          <a:prstGeom prst="roundRect">
            <a:avLst>
              <a:gd name="adj" fmla="val 3465"/>
            </a:avLst>
          </a:prstGeom>
          <a:solidFill>
            <a:srgbClr val="EAF3FB"/>
          </a:solidFill>
          <a:ln w="1524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20623" y="1389888"/>
            <a:ext cx="3474720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070C0"/>
                </a:solidFill>
                <a:latin typeface="Times New Roman"/>
              </a:rPr>
              <a:t>Feasibility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Proven open weights &amp; open source — </a:t>
            </a:r>
            <a:r>
              <a:rPr sz="930" b="0" i="0">
                <a:solidFill>
                  <a:srgbClr val="101418"/>
                </a:solidFill>
                <a:latin typeface="Arial"/>
              </a:rPr>
              <a:t>Rs 0 licence cost.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Prototype already runs end-to-end </a:t>
            </a:r>
            <a:r>
              <a:rPr sz="930" b="0" i="0">
                <a:solidFill>
                  <a:srgbClr val="101418"/>
                </a:solidFill>
                <a:latin typeface="Arial"/>
              </a:rPr>
              <a:t>on a laptop (thin build, Window A).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QLoRA 4-bit + 2B backbone </a:t>
            </a:r>
            <a:r>
              <a:rPr sz="930" b="0" i="0">
                <a:solidFill>
                  <a:srgbClr val="101418"/>
                </a:solidFill>
                <a:latin typeface="Arial"/>
              </a:rPr>
              <a:t>fits free Kaggle / Colab GPUs.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Tile-based 512 px / 64 overlap </a:t>
            </a:r>
            <a:r>
              <a:rPr sz="930" b="0" i="0">
                <a:solidFill>
                  <a:srgbClr val="101418"/>
                </a:solidFill>
                <a:latin typeface="Arial"/>
              </a:rPr>
              <a:t>→ sensor- &amp; resolution-agnostic.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87952" y="1298448"/>
            <a:ext cx="3749039" cy="1847088"/>
          </a:xfrm>
          <a:prstGeom prst="roundRect">
            <a:avLst>
              <a:gd name="adj" fmla="val 3465"/>
            </a:avLst>
          </a:prstGeom>
          <a:solidFill>
            <a:srgbClr val="E9F7EE"/>
          </a:solidFill>
          <a:ln w="1524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4334256" y="1389888"/>
            <a:ext cx="3474720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9E5B"/>
                </a:solidFill>
                <a:latin typeface="Times New Roman"/>
              </a:rPr>
              <a:t>Viability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15-day dated build plan </a:t>
            </a:r>
            <a:r>
              <a:rPr sz="930" b="0" i="0">
                <a:solidFill>
                  <a:srgbClr val="101418"/>
                </a:solidFill>
                <a:latin typeface="Arial"/>
              </a:rPr>
              <a:t>with daily checkpoints D1–D18.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3-model triage (M1/M4/M3) </a:t>
            </a:r>
            <a:r>
              <a:rPr sz="930" b="0" i="0">
                <a:solidFill>
                  <a:srgbClr val="101418"/>
                </a:solidFill>
                <a:latin typeface="Arial"/>
              </a:rPr>
              <a:t>matches pooled free compute exactly.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Demo-day safe: </a:t>
            </a:r>
            <a:r>
              <a:rPr sz="930" b="0" i="0">
                <a:solidFill>
                  <a:srgbClr val="101418"/>
                </a:solidFill>
                <a:latin typeface="Arial"/>
              </a:rPr>
              <a:t>deterministic fallback + cached-answer mode.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Metrics gates </a:t>
            </a:r>
            <a:r>
              <a:rPr sz="930" b="0" i="0">
                <a:solidFill>
                  <a:srgbClr val="101418"/>
                </a:solidFill>
                <a:latin typeface="Arial"/>
              </a:rPr>
              <a:t>on public splits before every submission.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101584" y="1298448"/>
            <a:ext cx="3749039" cy="1847088"/>
          </a:xfrm>
          <a:prstGeom prst="roundRect">
            <a:avLst>
              <a:gd name="adj" fmla="val 3465"/>
            </a:avLst>
          </a:prstGeom>
          <a:solidFill>
            <a:srgbClr val="FFF4E8"/>
          </a:solidFill>
          <a:ln w="1524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8247888" y="1389888"/>
            <a:ext cx="3474720" cy="1700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7722"/>
                </a:solidFill>
                <a:latin typeface="Times New Roman"/>
              </a:rPr>
              <a:t>Practical Implementation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Dockerised, offline deploy </a:t>
            </a:r>
            <a:r>
              <a:rPr sz="930" b="0" i="0">
                <a:solidFill>
                  <a:srgbClr val="101418"/>
                </a:solidFill>
                <a:latin typeface="Arial"/>
              </a:rPr>
              <a:t>for the evaluation venue.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Handles georeferenced Cartosat-2S + RISAT </a:t>
            </a:r>
            <a:r>
              <a:rPr sz="930" b="0" i="0">
                <a:solidFill>
                  <a:srgbClr val="101418"/>
                </a:solidFill>
                <a:latin typeface="Arial"/>
              </a:rPr>
              <a:t>pairs by design (P14).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Normalised metric tables </a:t>
            </a:r>
            <a:r>
              <a:rPr sz="930" b="0" i="0">
                <a:solidFill>
                  <a:srgbClr val="101418"/>
                </a:solidFill>
                <a:latin typeface="Arial"/>
              </a:rPr>
              <a:t>(P15) in the final report.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3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930" b="1" i="0">
                <a:solidFill>
                  <a:srgbClr val="101418"/>
                </a:solidFill>
                <a:latin typeface="Arial"/>
              </a:rPr>
              <a:t>Same tool contracts </a:t>
            </a:r>
            <a:r>
              <a:rPr sz="930" b="0" i="0">
                <a:solidFill>
                  <a:srgbClr val="101418"/>
                </a:solidFill>
                <a:latin typeface="Arial"/>
              </a:rPr>
              <a:t>from prototype → trained models.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74320" y="3310128"/>
            <a:ext cx="11640312" cy="2907792"/>
          </a:xfrm>
          <a:prstGeom prst="roundRect">
            <a:avLst>
              <a:gd name="adj" fmla="val 2515"/>
            </a:avLst>
          </a:prstGeom>
          <a:solidFill>
            <a:srgbClr val="FFFFFF"/>
          </a:solidFill>
          <a:ln w="15240">
            <a:solidFill>
              <a:srgbClr val="10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Oval 17416"/>
          <p:cNvSpPr/>
          <p:nvPr/>
        </p:nvSpPr>
        <p:spPr>
          <a:xfrm>
            <a:off x="566928" y="4151376"/>
            <a:ext cx="1417320" cy="1225296"/>
          </a:xfrm>
          <a:prstGeom prst="ellipse">
            <a:avLst/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566928" y="4151376"/>
            <a:ext cx="1417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8"/>
                </a:solidFill>
                <a:latin typeface="Arial"/>
              </a:rPr>
              <a:t>Potential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8"/>
                </a:solidFill>
                <a:latin typeface="Arial"/>
              </a:rPr>
              <a:t>Challenges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1418"/>
                </a:solidFill>
                <a:latin typeface="Arial"/>
              </a:rPr>
              <a:t>&amp; Risks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10204704" y="4151376"/>
            <a:ext cx="1417320" cy="1225296"/>
          </a:xfrm>
          <a:prstGeom prst="ellipse">
            <a:avLst/>
          </a:prstGeom>
          <a:solidFill>
            <a:srgbClr val="DDE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10204704" y="4151376"/>
            <a:ext cx="1417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9E5B"/>
                </a:solidFill>
                <a:latin typeface="Arial"/>
              </a:rPr>
              <a:t>Strategies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9E5B"/>
                </a:solidFill>
                <a:latin typeface="Arial"/>
              </a:rPr>
              <a:t>For Overcoming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9E5B"/>
                </a:solidFill>
                <a:latin typeface="Arial"/>
              </a:rPr>
              <a:t>Challenges</a:t>
            </a:r>
          </a:p>
        </p:txBody>
      </p:sp>
      <p:sp>
        <p:nvSpPr>
          <p:cNvPr id="17421" name="Oval 17420"/>
          <p:cNvSpPr/>
          <p:nvPr/>
        </p:nvSpPr>
        <p:spPr>
          <a:xfrm>
            <a:off x="2212848" y="3511296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2212848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596896" y="3456432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Domain gap: </a:t>
            </a:r>
            <a:r>
              <a:rPr sz="919" b="0" i="0">
                <a:solidFill>
                  <a:srgbClr val="101418"/>
                </a:solidFill>
                <a:latin typeface="Arial"/>
              </a:rPr>
              <a:t>trained on Sentinel (10–20 m), evaluated on Cartosat-2S (~1 m) + RISAT.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9710928" y="3511296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9710928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053328" y="3456432"/>
            <a:ext cx="3547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Tile-based, resolution-agnostic pipeline; </a:t>
            </a:r>
            <a:r>
              <a:rPr sz="919" b="0" i="0">
                <a:solidFill>
                  <a:srgbClr val="101418"/>
                </a:solidFill>
                <a:latin typeface="Arial"/>
              </a:rPr>
              <a:t>week-1 proxy tests on public VHR + L-band.</a:t>
            </a:r>
          </a:p>
        </p:txBody>
      </p:sp>
      <p:cxnSp>
        <p:nvCxnSpPr>
          <p:cNvPr id="17427" name="Connector 17426"/>
          <p:cNvCxnSpPr/>
          <p:nvPr/>
        </p:nvCxnSpPr>
        <p:spPr>
          <a:xfrm>
            <a:off x="2011680" y="3648456"/>
            <a:ext cx="182880" cy="0"/>
          </a:xfrm>
          <a:prstGeom prst="line">
            <a:avLst/>
          </a:prstGeom>
          <a:ln w="15240">
            <a:solidFill>
              <a:srgbClr val="D930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8" name="Connector 17427"/>
          <p:cNvCxnSpPr/>
          <p:nvPr/>
        </p:nvCxnSpPr>
        <p:spPr>
          <a:xfrm flipH="1">
            <a:off x="10003536" y="3648456"/>
            <a:ext cx="182880" cy="0"/>
          </a:xfrm>
          <a:prstGeom prst="line">
            <a:avLst/>
          </a:prstGeom>
          <a:ln w="1524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Oval 17428"/>
          <p:cNvSpPr/>
          <p:nvPr/>
        </p:nvSpPr>
        <p:spPr>
          <a:xfrm>
            <a:off x="2212848" y="4059935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2212848" y="405993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2596896" y="4005072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Tight 6 GB VRAM </a:t>
            </a:r>
            <a:r>
              <a:rPr sz="919" b="0" i="0">
                <a:solidFill>
                  <a:srgbClr val="101418"/>
                </a:solidFill>
                <a:latin typeface="Arial"/>
              </a:rPr>
              <a:t>at the evaluation venue.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9710928" y="4059935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9710928" y="405993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053328" y="4005072"/>
            <a:ext cx="3547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QLoRA 4-bit + 2B backbone; </a:t>
            </a:r>
            <a:r>
              <a:rPr sz="919" b="0" i="0">
                <a:solidFill>
                  <a:srgbClr val="101418"/>
                </a:solidFill>
                <a:latin typeface="Arial"/>
              </a:rPr>
              <a:t>heavy training on free 16 GB Kaggle GPUs.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2011680" y="4197096"/>
            <a:ext cx="182880" cy="0"/>
          </a:xfrm>
          <a:prstGeom prst="line">
            <a:avLst/>
          </a:prstGeom>
          <a:ln w="15240">
            <a:solidFill>
              <a:srgbClr val="D930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36" name="Connector 17435"/>
          <p:cNvCxnSpPr/>
          <p:nvPr/>
        </p:nvCxnSpPr>
        <p:spPr>
          <a:xfrm flipH="1">
            <a:off x="10003536" y="4197096"/>
            <a:ext cx="182880" cy="0"/>
          </a:xfrm>
          <a:prstGeom prst="line">
            <a:avLst/>
          </a:prstGeom>
          <a:ln w="1524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Oval 17436"/>
          <p:cNvSpPr/>
          <p:nvPr/>
        </p:nvSpPr>
        <p:spPr>
          <a:xfrm>
            <a:off x="2212848" y="4608575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8" name="TextBox 17437"/>
          <p:cNvSpPr txBox="1"/>
          <p:nvPr/>
        </p:nvSpPr>
        <p:spPr>
          <a:xfrm>
            <a:off x="2212848" y="460857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2596896" y="4553712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Hidden eval annotations </a:t>
            </a:r>
            <a:r>
              <a:rPr sz="919" b="0" i="0">
                <a:solidFill>
                  <a:srgbClr val="101418"/>
                </a:solidFill>
                <a:latin typeface="Arial"/>
              </a:rPr>
              <a:t>&amp; unpublished metric weights (G1).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9710928" y="4608575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1" name="TextBox 17440"/>
          <p:cNvSpPr txBox="1"/>
          <p:nvPr/>
        </p:nvSpPr>
        <p:spPr>
          <a:xfrm>
            <a:off x="9710928" y="460857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053328" y="4553712"/>
            <a:ext cx="3547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Train on the PS-named public benchmarks; </a:t>
            </a:r>
            <a:r>
              <a:rPr sz="919" b="0" i="0">
                <a:solidFill>
                  <a:srgbClr val="101418"/>
                </a:solidFill>
                <a:latin typeface="Arial"/>
              </a:rPr>
              <a:t>report normalised metric tables (P15).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2011680" y="4745736"/>
            <a:ext cx="182880" cy="0"/>
          </a:xfrm>
          <a:prstGeom prst="line">
            <a:avLst/>
          </a:prstGeom>
          <a:ln w="15240">
            <a:solidFill>
              <a:srgbClr val="D930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4" name="Connector 17443"/>
          <p:cNvCxnSpPr/>
          <p:nvPr/>
        </p:nvCxnSpPr>
        <p:spPr>
          <a:xfrm flipH="1">
            <a:off x="10003536" y="4745736"/>
            <a:ext cx="182880" cy="0"/>
          </a:xfrm>
          <a:prstGeom prst="line">
            <a:avLst/>
          </a:prstGeom>
          <a:ln w="1524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Oval 17444"/>
          <p:cNvSpPr/>
          <p:nvPr/>
        </p:nvSpPr>
        <p:spPr>
          <a:xfrm>
            <a:off x="2212848" y="5157215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2212848" y="51572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2596896" y="5102351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Demo-day failure risk </a:t>
            </a:r>
            <a:r>
              <a:rPr sz="919" b="0" i="0">
                <a:solidFill>
                  <a:srgbClr val="101418"/>
                </a:solidFill>
                <a:latin typeface="Arial"/>
              </a:rPr>
              <a:t>in front of judges.</a:t>
            </a:r>
          </a:p>
        </p:txBody>
      </p:sp>
      <p:sp>
        <p:nvSpPr>
          <p:cNvPr id="17448" name="Oval 17447"/>
          <p:cNvSpPr/>
          <p:nvPr/>
        </p:nvSpPr>
        <p:spPr>
          <a:xfrm>
            <a:off x="9710928" y="5157215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9" name="TextBox 17448"/>
          <p:cNvSpPr txBox="1"/>
          <p:nvPr/>
        </p:nvSpPr>
        <p:spPr>
          <a:xfrm>
            <a:off x="9710928" y="515721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053328" y="5102351"/>
            <a:ext cx="3547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Guardrail fallback router + cached answers; </a:t>
            </a:r>
            <a:r>
              <a:rPr sz="919" b="0" i="0">
                <a:solidFill>
                  <a:srgbClr val="101418"/>
                </a:solidFill>
                <a:latin typeface="Arial"/>
              </a:rPr>
              <a:t>honest, scoped narration on stage.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2011680" y="5294375"/>
            <a:ext cx="182880" cy="0"/>
          </a:xfrm>
          <a:prstGeom prst="line">
            <a:avLst/>
          </a:prstGeom>
          <a:ln w="15240">
            <a:solidFill>
              <a:srgbClr val="D930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 17451"/>
          <p:cNvCxnSpPr/>
          <p:nvPr/>
        </p:nvCxnSpPr>
        <p:spPr>
          <a:xfrm flipH="1">
            <a:off x="10003536" y="5294375"/>
            <a:ext cx="182880" cy="0"/>
          </a:xfrm>
          <a:prstGeom prst="line">
            <a:avLst/>
          </a:prstGeom>
          <a:ln w="1524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Oval 17452"/>
          <p:cNvSpPr/>
          <p:nvPr/>
        </p:nvSpPr>
        <p:spPr>
          <a:xfrm>
            <a:off x="2212848" y="5705855"/>
            <a:ext cx="274320" cy="274320"/>
          </a:xfrm>
          <a:prstGeom prst="ellipse">
            <a:avLst/>
          </a:prstGeom>
          <a:solidFill>
            <a:srgbClr val="D93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4" name="TextBox 17453"/>
          <p:cNvSpPr txBox="1"/>
          <p:nvPr/>
        </p:nvSpPr>
        <p:spPr>
          <a:xfrm>
            <a:off x="2212848" y="570585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2596896" y="5650991"/>
            <a:ext cx="3246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15 days for 3 trained models.</a:t>
            </a:r>
            <a:r>
              <a:rPr sz="919" b="0" i="0">
                <a:solidFill>
                  <a:srgbClr val="101418"/>
                </a:solidFill>
                <a:latin typeface="Arial"/>
              </a:rPr>
              <a:t/>
            </a:r>
          </a:p>
        </p:txBody>
      </p:sp>
      <p:sp>
        <p:nvSpPr>
          <p:cNvPr id="17456" name="Oval 17455"/>
          <p:cNvSpPr/>
          <p:nvPr/>
        </p:nvSpPr>
        <p:spPr>
          <a:xfrm>
            <a:off x="9710928" y="5705855"/>
            <a:ext cx="274320" cy="2743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7" name="TextBox 17456"/>
          <p:cNvSpPr txBox="1"/>
          <p:nvPr/>
        </p:nvSpPr>
        <p:spPr>
          <a:xfrm>
            <a:off x="9710928" y="5705855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053328" y="5650991"/>
            <a:ext cx="35478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01418"/>
                </a:solidFill>
                <a:latin typeface="Arial"/>
              </a:rPr>
              <a:t>Binding triage M1/M4/M3; </a:t>
            </a:r>
            <a:r>
              <a:rPr sz="919" b="0" i="0">
                <a:solidFill>
                  <a:srgbClr val="101418"/>
                </a:solidFill>
                <a:latin typeface="Arial"/>
              </a:rPr>
              <a:t>dated checkpoints D1–D18; contracts frozen early.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2011680" y="5843015"/>
            <a:ext cx="182880" cy="0"/>
          </a:xfrm>
          <a:prstGeom prst="line">
            <a:avLst/>
          </a:prstGeom>
          <a:ln w="15240">
            <a:solidFill>
              <a:srgbClr val="D930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0" name="Connector 17459"/>
          <p:cNvCxnSpPr/>
          <p:nvPr/>
        </p:nvCxnSpPr>
        <p:spPr>
          <a:xfrm flipH="1">
            <a:off x="10003536" y="5843015"/>
            <a:ext cx="182880" cy="0"/>
          </a:xfrm>
          <a:prstGeom prst="line">
            <a:avLst/>
          </a:prstGeom>
          <a:ln w="1524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61" name="Connector 17460"/>
          <p:cNvCxnSpPr/>
          <p:nvPr/>
        </p:nvCxnSpPr>
        <p:spPr>
          <a:xfrm>
            <a:off x="5943600" y="3447288"/>
            <a:ext cx="0" cy="2633472"/>
          </a:xfrm>
          <a:prstGeom prst="line">
            <a:avLst/>
          </a:prstGeom>
          <a:ln w="12700">
            <a:solidFill>
              <a:srgbClr val="E8EB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TextBox 17461"/>
          <p:cNvSpPr txBox="1"/>
          <p:nvPr/>
        </p:nvSpPr>
        <p:spPr>
          <a:xfrm>
            <a:off x="1737360" y="93268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58606A"/>
                </a:solidFill>
                <a:latin typeface="Arial"/>
              </a:rPr>
              <a:t>Feasibility analysis · potential challenges &amp; risks · strategies for overcoming these challenges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595360" cy="777240"/>
          </a:xfrm>
        </p:spPr>
        <p:txBody>
          <a:bodyPr/>
          <a:lstStyle/>
          <a:p>
            <a:pPr eaLnBrk="1" hangingPunct="1" algn="ctr"/>
            <a:r>
              <a:rPr sz="3000" b="1">
                <a:solidFill>
                  <a:srgbClr val="101418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030A0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fig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481328"/>
            <a:ext cx="6675120" cy="3977639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103120" y="129844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2" name="TextBox 17411"/>
          <p:cNvSpPr txBox="1"/>
          <p:nvPr/>
        </p:nvSpPr>
        <p:spPr>
          <a:xfrm>
            <a:off x="2194560" y="13533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497D"/>
                </a:solidFill>
                <a:latin typeface="Arial"/>
              </a:rPr>
              <a:t>ISRO / SAC analysts: </a:t>
            </a:r>
            <a:r>
              <a:rPr sz="960" b="0" i="0">
                <a:solidFill>
                  <a:srgbClr val="101418"/>
                </a:solidFill>
                <a:latin typeface="Arial"/>
              </a:rPr>
              <a:t>task answers with evidence in minutes, not scripting days.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92608" y="2304288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4" name="TextBox 17413"/>
          <p:cNvSpPr txBox="1"/>
          <p:nvPr/>
        </p:nvSpPr>
        <p:spPr>
          <a:xfrm>
            <a:off x="384048" y="2359152"/>
            <a:ext cx="2148839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497D"/>
                </a:solidFill>
                <a:latin typeface="Arial"/>
              </a:rPr>
              <a:t>Disaster cells: </a:t>
            </a:r>
            <a:r>
              <a:rPr sz="960" b="0" i="0">
                <a:solidFill>
                  <a:srgbClr val="101418"/>
                </a:solidFill>
                <a:latin typeface="Arial"/>
              </a:rPr>
              <a:t>bi-temporal change maps + change-VQA for rapid damage triage.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892040" y="2304288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4983479" y="2359152"/>
            <a:ext cx="2148839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497D"/>
                </a:solidFill>
                <a:latin typeface="Arial"/>
              </a:rPr>
              <a:t>Agriculture dept: </a:t>
            </a:r>
            <a:r>
              <a:rPr sz="960" b="0" i="0">
                <a:solidFill>
                  <a:srgbClr val="101418"/>
                </a:solidFill>
                <a:latin typeface="Arial"/>
              </a:rPr>
              <a:t>water / crop queries in plain language — no GIS staff needed.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92608" y="4434840"/>
            <a:ext cx="2331720" cy="868680"/>
          </a:xfrm>
          <a:prstGeom prst="roundRect">
            <a:avLst>
              <a:gd name="adj" fmla="val 6315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8" name="TextBox 17417"/>
          <p:cNvSpPr txBox="1"/>
          <p:nvPr/>
        </p:nvSpPr>
        <p:spPr>
          <a:xfrm>
            <a:off x="384048" y="4489703"/>
            <a:ext cx="2148839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497D"/>
                </a:solidFill>
                <a:latin typeface="Arial"/>
              </a:rPr>
              <a:t>Urban planners: </a:t>
            </a:r>
            <a:r>
              <a:rPr sz="960" b="0" i="0">
                <a:solidFill>
                  <a:srgbClr val="101418"/>
                </a:solidFill>
                <a:latin typeface="Arial"/>
              </a:rPr>
              <a:t>auditable built-up growth counts from masks, not eyeballing.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892040" y="4434840"/>
            <a:ext cx="2331720" cy="868680"/>
          </a:xfrm>
          <a:prstGeom prst="roundRect">
            <a:avLst>
              <a:gd name="adj" fmla="val 6315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0" name="TextBox 17419"/>
          <p:cNvSpPr txBox="1"/>
          <p:nvPr/>
        </p:nvSpPr>
        <p:spPr>
          <a:xfrm>
            <a:off x="4983479" y="4489703"/>
            <a:ext cx="2148839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F497D"/>
                </a:solidFill>
                <a:latin typeface="Arial"/>
              </a:rPr>
              <a:t>Students &amp; researchers: </a:t>
            </a:r>
            <a:r>
              <a:rPr sz="960" b="0" i="0">
                <a:solidFill>
                  <a:srgbClr val="101418"/>
                </a:solidFill>
                <a:latin typeface="Arial"/>
              </a:rPr>
              <a:t>open traces + reports make RS science reproducible.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7223760" y="1298448"/>
            <a:ext cx="4690872" cy="384048"/>
          </a:xfrm>
          <a:prstGeom prst="roundRect">
            <a:avLst>
              <a:gd name="adj" fmla="val 19047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7223760" y="1298448"/>
            <a:ext cx="46908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Benefits of the solution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223760" y="1847088"/>
            <a:ext cx="469087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2032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4" name="TextBox 17423"/>
          <p:cNvSpPr txBox="1"/>
          <p:nvPr/>
        </p:nvSpPr>
        <p:spPr>
          <a:xfrm>
            <a:off x="7370064" y="1938528"/>
            <a:ext cx="12344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7722"/>
                </a:solidFill>
                <a:latin typeface="Times New Roman"/>
              </a:rPr>
              <a:t>Social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641080" y="1938528"/>
            <a:ext cx="312724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01418"/>
                </a:solidFill>
                <a:latin typeface="Arial"/>
              </a:rPr>
              <a:t>“Democratizes satellite intelligence — any officer queries in plain language, the PS's own stated goal.”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7223760" y="3145536"/>
            <a:ext cx="469087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2032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7" name="TextBox 17426"/>
          <p:cNvSpPr txBox="1"/>
          <p:nvPr/>
        </p:nvSpPr>
        <p:spPr>
          <a:xfrm>
            <a:off x="7370064" y="3236976"/>
            <a:ext cx="12344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9E5B"/>
                </a:solidFill>
                <a:latin typeface="Times New Roman"/>
              </a:rPr>
              <a:t>Economic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641080" y="3236976"/>
            <a:ext cx="312724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01418"/>
                </a:solidFill>
                <a:latin typeface="Arial"/>
              </a:rPr>
              <a:t>“One assistant replaces many single-task vendor pipelines; saves analyst-hours on every tasking cycle.”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7223760" y="4443983"/>
            <a:ext cx="469087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2032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0" name="TextBox 17429"/>
          <p:cNvSpPr txBox="1"/>
          <p:nvPr/>
        </p:nvSpPr>
        <p:spPr>
          <a:xfrm>
            <a:off x="7370064" y="4535423"/>
            <a:ext cx="12344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2B5A5"/>
                </a:solidFill>
                <a:latin typeface="Times New Roman"/>
              </a:rPr>
              <a:t>Environmental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641080" y="4535423"/>
            <a:ext cx="3127248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01418"/>
                </a:solidFill>
                <a:latin typeface="Arial"/>
              </a:rPr>
              <a:t>“Faster spotting of floods, encroachment and water-body change → quicker response on the ground.”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274320" y="5760720"/>
            <a:ext cx="11640312" cy="457200"/>
          </a:xfrm>
          <a:prstGeom prst="roundRect">
            <a:avLst>
              <a:gd name="adj" fmla="val 16000"/>
            </a:avLst>
          </a:prstGeom>
          <a:solidFill>
            <a:srgbClr val="E8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3" name="TextBox 17432"/>
          <p:cNvSpPr txBox="1"/>
          <p:nvPr/>
        </p:nvSpPr>
        <p:spPr>
          <a:xfrm>
            <a:off x="274320" y="5760720"/>
            <a:ext cx="11640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497D"/>
                </a:solidFill>
                <a:latin typeface="Times New Roman"/>
              </a:rPr>
              <a:t>“Every answer with evidence, confidence and an audit trail — satellite intelligence anyone can query.”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737360" y="93268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58606A"/>
                </a:solidFill>
                <a:latin typeface="Arial"/>
              </a:rPr>
              <a:t>Potential impact on the target audience · benefits of the solution (social, economic, environmental)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37360" y="91440"/>
            <a:ext cx="8595360" cy="777240"/>
          </a:xfrm>
        </p:spPr>
        <p:txBody>
          <a:bodyPr/>
          <a:lstStyle/>
          <a:p>
            <a:pPr eaLnBrk="1" hangingPunct="1" algn="ctr"/>
            <a:r>
              <a:rPr sz="3000" b="1">
                <a:solidFill>
                  <a:srgbClr val="101418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300" b="1">
                <a:solidFill>
                  <a:srgbClr val="FFFFFF"/>
                </a:solidFill>
                <a:latin typeface="Times New Roman"/>
              </a:rPr>
              <a:t>SMART INDIA HACKATHON 2026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FFFFFF"/>
          </a:solidFill>
          <a:ln>
            <a:solidFill>
              <a:srgbClr val="7030A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7030A0"/>
                </a:solidFill>
                <a:latin typeface="Arial"/>
              </a:rPr>
              <a:t>x64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74320" y="1298448"/>
            <a:ext cx="11640312" cy="4919472"/>
          </a:xfrm>
          <a:prstGeom prst="roundRect">
            <a:avLst>
              <a:gd name="adj" fmla="val 1486"/>
            </a:avLst>
          </a:prstGeom>
          <a:solidFill>
            <a:srgbClr val="FFFFFF"/>
          </a:solidFill>
          <a:ln w="15240">
            <a:solidFill>
              <a:srgbClr val="1014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66928" y="44988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030A0"/>
                </a:solidFill>
                <a:latin typeface="Times New Roman"/>
              </a:rPr>
              <a:t>Benchmark gates for the 20 Sep submission — zero-shot → adapted delta is our P12 compliance proof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66928" y="4864608"/>
            <a:ext cx="2176272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778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640080" y="4919472"/>
            <a:ext cx="202996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1" i="0">
                <a:solidFill>
                  <a:srgbClr val="0070C0"/>
                </a:solidFill>
                <a:latin typeface="Arial"/>
              </a:rPr>
              <a:t>Captioning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8606A"/>
                </a:solidFill>
                <a:latin typeface="Arial"/>
              </a:rPr>
              <a:t>VRSBench test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01418"/>
                </a:solidFill>
                <a:latin typeface="Arial"/>
              </a:rPr>
              <a:t>CIDEr · BLEU-4 · METEOR · ROUGE-L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816352" y="4864608"/>
            <a:ext cx="2176272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778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5" name="TextBox 17414"/>
          <p:cNvSpPr txBox="1"/>
          <p:nvPr/>
        </p:nvSpPr>
        <p:spPr>
          <a:xfrm>
            <a:off x="2889504" y="4919472"/>
            <a:ext cx="202996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1" i="0">
                <a:solidFill>
                  <a:srgbClr val="E87722"/>
                </a:solidFill>
                <a:latin typeface="Arial"/>
              </a:rPr>
              <a:t>Grounding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8606A"/>
                </a:solidFill>
                <a:latin typeface="Arial"/>
              </a:rPr>
              <a:t>VRSBench refs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01418"/>
                </a:solidFill>
                <a:latin typeface="Arial"/>
              </a:rPr>
              <a:t>box IoU ≥ 0.5 acc · COCO AP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5065776" y="4864608"/>
            <a:ext cx="2176272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778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7" name="TextBox 17416"/>
          <p:cNvSpPr txBox="1"/>
          <p:nvPr/>
        </p:nvSpPr>
        <p:spPr>
          <a:xfrm>
            <a:off x="5138928" y="4919472"/>
            <a:ext cx="202996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1" i="0">
                <a:solidFill>
                  <a:srgbClr val="2E9E5B"/>
                </a:solidFill>
                <a:latin typeface="Arial"/>
              </a:rPr>
              <a:t>Single-image VQA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8606A"/>
                </a:solidFill>
                <a:latin typeface="Arial"/>
              </a:rPr>
              <a:t>RSVQA + VRSBench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01418"/>
                </a:solidFill>
                <a:latin typeface="Arial"/>
              </a:rPr>
              <a:t>exact match · soft accuracy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315200" y="4864608"/>
            <a:ext cx="2176272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778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7388352" y="4919472"/>
            <a:ext cx="202996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1" i="0">
                <a:solidFill>
                  <a:srgbClr val="7030A0"/>
                </a:solidFill>
                <a:latin typeface="Arial"/>
              </a:rPr>
              <a:t>Change-VQA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8606A"/>
                </a:solidFill>
                <a:latin typeface="Arial"/>
              </a:rPr>
              <a:t>CDVQA test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01418"/>
                </a:solidFill>
                <a:latin typeface="Arial"/>
              </a:rPr>
              <a:t>exact match over answer categories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564624" y="4864608"/>
            <a:ext cx="2176272" cy="841248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7780">
            <a:solidFill>
              <a:srgbClr val="12B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1" name="TextBox 17420"/>
          <p:cNvSpPr txBox="1"/>
          <p:nvPr/>
        </p:nvSpPr>
        <p:spPr>
          <a:xfrm>
            <a:off x="9637776" y="4919472"/>
            <a:ext cx="2029967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19" b="1" i="0">
                <a:solidFill>
                  <a:srgbClr val="12B5A5"/>
                </a:solidFill>
                <a:latin typeface="Arial"/>
              </a:rPr>
              <a:t>Change map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80" b="0" i="0">
                <a:solidFill>
                  <a:srgbClr val="58606A"/>
                </a:solidFill>
                <a:latin typeface="Arial"/>
              </a:rPr>
              <a:t>CDVQA / QAG-360K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101418"/>
                </a:solidFill>
                <a:latin typeface="Arial"/>
              </a:rPr>
              <a:t>IoU · F1 · mIoU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566928" y="57790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1">
                <a:solidFill>
                  <a:srgbClr val="58606A"/>
                </a:solidFill>
                <a:latin typeface="Arial"/>
              </a:rPr>
              <a:t>All scores normalised before combining (P15); per-tool latency and confidence recorded in every trace.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566928" y="1481328"/>
            <a:ext cx="55321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030A0"/>
                </a:solidFill>
                <a:latin typeface="Times New Roman"/>
              </a:rPr>
              <a:t>Official problem statement &amp; portals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SIH 2026 Problem Statement 26167 (ISRO):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“SatQuery AI — An Interactive Vision-Language Assistant for Multimodal Remote Sensing Image Analysis through Text Queries” ·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sih.gov.in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ISRO / Space Applications Centre: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evaluation set of pre-georeferenced Cartosat-2S + RISAT pairs (P14) · </a:t>
            </a:r>
            <a:r>
              <a:rPr sz="1000" b="0" i="0">
                <a:solidFill>
                  <a:srgbClr val="0070C0"/>
                </a:solidFill>
                <a:latin typeface="Arial"/>
              </a:rPr>
              <a:t>isro.gov.in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030A0"/>
                </a:solidFill>
                <a:latin typeface="Times New Roman"/>
              </a:rPr>
              <a:t>Datasets &amp; benchmarks named by the PS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BigEarthNet.txt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(primary adaptation data — 9.55 M annotations over 464 K S1–S2 pairs): arXiv:2603.29630 · huggingface.co/datasets/BIFOLD-BigEarthNetv2-0/BigEarthNet.txt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VRSBench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(NeurIPS'24 D&amp;B — captioning, grounding, VQA): arXiv:2406.12384 · github.com/lx709/VRSBench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RSVQA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(Lobry et al., IEEE TGRS 2020) — single-image VQA volume.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CDVQA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(Yuan et al., TGRS 2022 — bi-temporal change VQA + semantic change maps): arXiv:2112.06343 · github.com/YZHJessica/CDVQA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TAMMI (2025)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— VQA over co-located VHR RGB + multispectral + SAR triplets; LEVIR-CD / WHU-CD for change-mask volume (github.com/justchenhao/Levir-CD).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355080" y="1481328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030A0"/>
                </a:solidFill>
                <a:latin typeface="Times New Roman"/>
              </a:rPr>
              <a:t>Models &amp; methods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Qwen2-VL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(2 B backbone, QLoRA 4-bit adaptation): arXiv:2409.12191 · QLoRA arXiv:2305.14314 · LoRA arXiv:2106.09685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Grounding DINO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(text-guided grounding base): arXiv:2303.05499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UNet++ / BiT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(change &amp; patch-classifier heads): arXiv:1807.10165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7030A0"/>
                </a:solidFill>
                <a:latin typeface="Times New Roman"/>
              </a:rPr>
              <a:t>Our groundwork (this submission)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Clause-level PS analysis: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all 15 binding clauses (P1–P15) mapped to design decisions; 5 known PS gaps logged (G1–G5).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Working thin prototype: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real ingestion (GDAL), registry + guardrail + fallback router, trace store, overlays and PDF reports — screenshots on slide 2.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101418"/>
                </a:solidFill>
                <a:latin typeface="Arial"/>
              </a:rPr>
              <a:t>•  </a:t>
            </a:r>
            <a:r>
              <a:rPr sz="1000" b="1" i="0">
                <a:solidFill>
                  <a:srgbClr val="101418"/>
                </a:solidFill>
                <a:latin typeface="Arial"/>
              </a:rPr>
              <a:t>Dated 15-day build plan: </a:t>
            </a:r>
            <a:r>
              <a:rPr sz="1000" b="0" i="0">
                <a:solidFill>
                  <a:srgbClr val="101418"/>
                </a:solidFill>
                <a:latin typeface="Arial"/>
              </a:rPr>
              <a:t>three trained models (M1/M4/M3) with daily checkpoints and benchmark gates for the 20 Sep final submission.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6144768" y="1481328"/>
            <a:ext cx="0" cy="2862072"/>
          </a:xfrm>
          <a:prstGeom prst="line">
            <a:avLst/>
          </a:prstGeom>
          <a:ln w="12700">
            <a:solidFill>
              <a:srgbClr val="E8EB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1737360" y="932688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58606A"/>
                </a:solidFill>
                <a:latin typeface="Arial"/>
              </a:rPr>
              <a:t>Details / links of the reference and research work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